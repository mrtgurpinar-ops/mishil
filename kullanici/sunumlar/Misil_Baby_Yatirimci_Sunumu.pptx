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914400"/>
            <a:ext cx="9997135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371600"/>
            <a:ext cx="8869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50" b="1">
                <a:solidFill>
                  <a:srgbClr val="FB7185"/>
                </a:solidFill>
              </a:defRPr>
            </a:pPr>
            <a:r>
              <a:t>MIŞIL BABY • TOHUM YATIRIMCI SUNUMU (PITCH DECK)</a:t>
            </a:r>
          </a:p>
          <a:p>
            <a:pPr>
              <a:spcAft>
                <a:spcPts val="1400"/>
              </a:spcAft>
              <a:defRPr sz="2800" b="1">
                <a:solidFill>
                  <a:srgbClr val="FFFFFF"/>
                </a:solidFill>
              </a:defRPr>
            </a:pPr>
            <a:r>
              <a:t>Her Gece 1.03 Milyon Aile Bu Soruyu Soruyor:</a:t>
            </a:r>
            <a:br/>
            <a:r>
              <a:t>'Neden Ağlıyor?' Biz Cevabı Veriyoruz.</a:t>
            </a:r>
          </a:p>
          <a:p>
            <a:pPr>
              <a:spcAft>
                <a:spcPts val="2200"/>
              </a:spcAft>
              <a:defRPr sz="1350">
                <a:solidFill>
                  <a:srgbClr val="E2E8F0"/>
                </a:solidFill>
              </a:defRPr>
            </a:pPr>
            <a:r>
              <a:t>Canlı, Kararlı, Kâr Odaklı: Türkiye'nin İlk Yapay Zekâ Destekli Bütüncül Bebek Bakım, Uyku &amp; Rutin Ekosistemi.</a:t>
            </a:r>
          </a:p>
          <a:p>
            <a:pPr>
              <a:defRPr sz="1200" b="1">
                <a:solidFill>
                  <a:srgbClr val="34D399"/>
                </a:solidFill>
              </a:defRPr>
            </a:pPr>
            <a:r>
              <a:t>Tohum Turu: $200.000 (~7.000.000 TL)  •  18 Aylık Pist  •  Stres Testli Kış Buffer'ı Modeli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i="1">
                <a:solidFill>
                  <a:srgbClr val="64748B"/>
                </a:solidFill>
              </a:defRPr>
            </a:pPr>
            <a:r>
              <a:t>Kaynak &amp; Metodoloji: T.C. TÜİK 2024 Doğum İstatistikleri &amp; App Store / Google Play v4.10+ Canlı Sürüm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FB7185"/>
                </a:solidFill>
              </a:defRPr>
            </a:pPr>
            <a:r>
              <a:t>[ ⚡ KRİZ &amp; PAZAR PROBLEMİ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50" b="1">
                <a:solidFill>
                  <a:srgbClr val="FFFFFF"/>
                </a:solidFill>
              </a:defRPr>
            </a:pPr>
            <a:r>
              <a:t>Uykusuzluk Bir Rahatsızlık Değil — Sessiz Bir Halk Sağlığı Krizi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43584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Her yıl milyonlarca aile kolik, uyku yoksunluğu ve çaresizlikle mücadele ediyor.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FB7185"/>
                </a:solidFill>
              </a:defRPr>
            </a:pPr>
            <a:r>
              <a:t>%76 TÜKENMİŞLİK</a:t>
            </a:r>
          </a:p>
          <a:p>
            <a:pPr>
              <a:spcAft>
                <a:spcPts val="600"/>
              </a:spcAft>
              <a:defRPr sz="1350" b="1">
                <a:solidFill>
                  <a:srgbClr val="FFFFFF"/>
                </a:solidFill>
              </a:defRPr>
            </a:pPr>
            <a:r>
              <a:t>1. Kronik Uyku Yoksunluğu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</a:defRPr>
            </a:pPr>
            <a:r>
              <a:t>• Bebekli ailelerin %76'sı ilk 12 ayda kronik uyku yoksunluğu çekiyor.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</a:defRPr>
            </a:pPr>
            <a:r>
              <a:t>• Küresel ölçekte 100 milyondan fazla ebeveyn günde 4.5 saatten az uyuyor.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</a:defRPr>
            </a:pPr>
            <a:r>
              <a:t>• Postpartum depresyon ve ebeveyn tükenmişliği %42 artış gösteriyor.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645920"/>
            <a:ext cx="3291840" cy="45720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82880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FBBF24"/>
                </a:solidFill>
              </a:defRPr>
            </a:pPr>
            <a:r>
              <a:t>BİYOLOJİK TIKANMA</a:t>
            </a:r>
          </a:p>
          <a:p>
            <a:pPr>
              <a:spcAft>
                <a:spcPts val="600"/>
              </a:spcAft>
              <a:defRPr sz="1350" b="1">
                <a:solidFill>
                  <a:srgbClr val="FFFFFF"/>
                </a:solidFill>
              </a:defRPr>
            </a:pPr>
            <a:r>
              <a:t>2. Overtired Kısır Döngüsü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</a:defRPr>
            </a:pPr>
            <a:r>
              <a:t>• Doğru 'Wake Window' (uyanıklık penceresi) kaçtığında kortizol patlaması yaşanır.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</a:defRPr>
            </a:pPr>
            <a:r>
              <a:t>• Aşırı yorgun bebek uyuyamaz; saatler süren spazmik ağlama krizine girer.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</a:defRPr>
            </a:pPr>
            <a:r>
              <a:t>• Ebeveyn için tek çıkış yolu tahmindir, bilimsel bilgi değil.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645920"/>
            <a:ext cx="3291840" cy="45720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182880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38BDF8"/>
                </a:solidFill>
              </a:defRPr>
            </a:pPr>
            <a:r>
              <a:t>FRAGMENTASYON</a:t>
            </a:r>
          </a:p>
          <a:p>
            <a:pPr>
              <a:spcAft>
                <a:spcPts val="600"/>
              </a:spcAft>
              <a:defRPr sz="1350" b="1">
                <a:solidFill>
                  <a:srgbClr val="FFFFFF"/>
                </a:solidFill>
              </a:defRPr>
            </a:pPr>
            <a:r>
              <a:t>3. Dağınık &amp; Yetersiz Araçlar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</a:defRPr>
            </a:pPr>
            <a:r>
              <a:t>• Biri sadece müzik çalıyor, diğeri sadece manuel veri tablosu tutuyor.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</a:defRPr>
            </a:pPr>
            <a:r>
              <a:t>• Hiçbiri 'neden ağlıyor?' sorusuna 5 saniyede cevap vermiyor.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</a:defRPr>
            </a:pPr>
            <a:r>
              <a:t>• Küresel uygulamalar ($60/yıl) Türkiye ebeveynleri için fahiş fiyatlı.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i="1">
                <a:solidFill>
                  <a:srgbClr val="64748B"/>
                </a:solidFill>
              </a:defRPr>
            </a:pPr>
            <a:r>
              <a:t>Kaynak &amp; Metodoloji: National Sleep Foundation (2023) Infant Sleep Study; Pediatric Sleep Council; TÜİK 2024.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FB7185"/>
                </a:solidFill>
              </a:defRPr>
            </a:pPr>
            <a:r>
              <a:t>[ ⚡ BÜTÜNCÜL ÇÖZÜM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50" b="1">
                <a:solidFill>
                  <a:srgbClr val="FFFFFF"/>
                </a:solidFill>
              </a:defRPr>
            </a:pPr>
            <a:r>
              <a:t>Rakiplerin 4 Ayrı Uygulamaya Böldüğü Çözümü Tek Dokunuşta Birleştirdik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43584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Bebeğin biyolojik ritmini takip eden, ağlamasını anlayan ve anında sakinleştiren ekosistem.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468880" cy="448056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20116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818CF8"/>
                </a:solidFill>
              </a:defRPr>
            </a:pPr>
            <a:r>
              <a:t>SİRKADİYEN MOTOR</a:t>
            </a:r>
          </a:p>
          <a:p>
            <a:pPr>
              <a:spcAft>
                <a:spcPts val="600"/>
              </a:spcAft>
              <a:defRPr sz="1350" b="1">
                <a:solidFill>
                  <a:srgbClr val="FFFFFF"/>
                </a:solidFill>
              </a:defRPr>
            </a:pPr>
            <a:r>
              <a:t>1. Dinamik Sirkadiyen Motor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</a:defRPr>
            </a:pPr>
            <a:r>
              <a:t>• 0-36 ay adaptif uyku penceresi hesabı.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</a:defRPr>
            </a:pPr>
            <a:r>
              <a:t>• &lt;30 dk uyku sonrası %15 otomatik daraltma (aşırı yorgunluk kalkanı).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</a:defRPr>
            </a:pPr>
            <a:r>
              <a:t>• 15 dk öncesinden akıllı uyku hazırlık alarmı.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645920"/>
            <a:ext cx="2468880" cy="448056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1828800"/>
            <a:ext cx="20116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FB7185"/>
                </a:solidFill>
              </a:defRPr>
            </a:pPr>
            <a:r>
              <a:t>AKUSTİK DSP AI</a:t>
            </a:r>
          </a:p>
          <a:p>
            <a:pPr>
              <a:spcAft>
                <a:spcPts val="600"/>
              </a:spcAft>
              <a:defRPr sz="1350" b="1">
                <a:solidFill>
                  <a:srgbClr val="FFFFFF"/>
                </a:solidFill>
              </a:defRPr>
            </a:pPr>
            <a:r>
              <a:t>2. Librosa DSP Ağlama Teşhisi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</a:defRPr>
            </a:pPr>
            <a:r>
              <a:t>• 13-MFCC, ZCR ve Spectral Centroid analizi.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</a:defRPr>
            </a:pPr>
            <a:r>
              <a:t>• 5 saniyede olasılık dağılımı: Açlık, Kolik/Ağrı, Yorgunluk, Rahatsızlık.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</a:defRPr>
            </a:pPr>
            <a:r>
              <a:t>• %86+ sınıflandırma doğruluğu.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2468880" cy="448056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828800"/>
            <a:ext cx="20116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34D399"/>
                </a:solidFill>
              </a:defRPr>
            </a:pPr>
            <a:r>
              <a:t>MEDİKAL SES</a:t>
            </a:r>
          </a:p>
          <a:p>
            <a:pPr>
              <a:spcAft>
                <a:spcPts val="600"/>
              </a:spcAft>
              <a:defRPr sz="1350" b="1">
                <a:solidFill>
                  <a:srgbClr val="FFFFFF"/>
                </a:solidFill>
              </a:defRPr>
            </a:pPr>
            <a:r>
              <a:t>3. 432Hz Frekans Terapisi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</a:defRPr>
            </a:pPr>
            <a:r>
              <a:t>• Anne karnı, tok kalp atışı, pembe gürültü ve Brahms ninnileri.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</a:defRPr>
            </a:pPr>
            <a:r>
              <a:t>• Stüdyo kalitesinde 0.0 ms dikişsiz kosinüs döngüsü (-14 LUFS).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</a:defRPr>
            </a:pPr>
            <a:r>
              <a:t>• Ekran kapalıyken kesintisiz çalma.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645920"/>
            <a:ext cx="2468880" cy="448056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89720" y="1828800"/>
            <a:ext cx="20116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38BDF8"/>
                </a:solidFill>
              </a:defRPr>
            </a:pPr>
            <a:r>
              <a:t>KESİNTİSİZ ALTYAPI</a:t>
            </a:r>
          </a:p>
          <a:p>
            <a:pPr>
              <a:spcAft>
                <a:spcPts val="600"/>
              </a:spcAft>
              <a:defRPr sz="1350" b="1">
                <a:solidFill>
                  <a:srgbClr val="FFFFFF"/>
                </a:solidFill>
              </a:defRPr>
            </a:pPr>
            <a:r>
              <a:t>4. Offline-First Mimari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</a:defRPr>
            </a:pPr>
            <a:r>
              <a:t>• İnternet kesilse dahi offlineHtml motoruyla sıfır kesinti.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</a:defRPr>
            </a:pPr>
            <a:r>
              <a:t>• RevenueCat VIP köprüsüyle güvenli abonelik.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</a:defRPr>
            </a:pPr>
            <a:r>
              <a:t>• Gece yarısı ebeveyn için %100 güvenilirlik.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i="1">
                <a:solidFill>
                  <a:srgbClr val="64748B"/>
                </a:solidFill>
              </a:defRPr>
            </a:pPr>
            <a:r>
              <a:t>Kaynak &amp; Metodoloji: Dunstan Baby Language &amp; Librosa Audio DSP Engine (projects/mishil kaynak kodları)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FB7185"/>
                </a:solidFill>
              </a:defRPr>
            </a:pPr>
            <a:r>
              <a:t>[ ⚡ ÜRÜN DENEYİMİ &amp; CANLI DEMO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50" b="1">
                <a:solidFill>
                  <a:srgbClr val="FFFFFF"/>
                </a:solidFill>
              </a:defRPr>
            </a:pPr>
            <a:r>
              <a:t>Slayt Değil, Gerçek Ürün: Şimdi İzleyin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43584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Tıklayıp videoyu doğrudan sunum içerisinde izleyebilirsiniz.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7095744" cy="4626864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Mışıl_Baby_Sorunsuz_Birlestirilmis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31520" y="1645920"/>
            <a:ext cx="6949440" cy="44805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955279" y="1645920"/>
            <a:ext cx="3474720" cy="13716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79" y="1828800"/>
            <a:ext cx="30175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FB7185"/>
                </a:solidFill>
              </a:defRPr>
            </a:pPr>
            <a:r>
              <a:t>ANLIK DİNLEME</a:t>
            </a:r>
          </a:p>
          <a:p>
            <a:pPr>
              <a:spcAft>
                <a:spcPts val="600"/>
              </a:spcAft>
              <a:defRPr sz="1350" b="1">
                <a:solidFill>
                  <a:srgbClr val="FFFFFF"/>
                </a:solidFill>
              </a:defRPr>
            </a:pPr>
            <a:r>
              <a:t>1. 5 Sn Akustik Kayıt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</a:defRPr>
            </a:pPr>
            <a:r>
              <a:t>Ebeveyn tek dokunuşla başlatır; mikrofon ağlamayı yakalar, Librosa spektrumunu çıkarır.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3200400"/>
            <a:ext cx="3474720" cy="13716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79" y="3383280"/>
            <a:ext cx="30175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FBBF24"/>
                </a:solidFill>
              </a:defRPr>
            </a:pPr>
            <a:r>
              <a:t>AKILLI TEŞHİS</a:t>
            </a:r>
          </a:p>
          <a:p>
            <a:pPr>
              <a:spcAft>
                <a:spcPts val="600"/>
              </a:spcAft>
              <a:defRPr sz="1350" b="1">
                <a:solidFill>
                  <a:srgbClr val="FFFFFF"/>
                </a:solidFill>
              </a:defRPr>
            </a:pPr>
            <a:r>
              <a:t>2. Olasılık &amp; Klinik Öneri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</a:defRPr>
            </a:pPr>
            <a:r>
              <a:t>Saniyeler içinde net sonuç: %72 Açlık, %18 Kolik — adım adım yatıştırma protokolü.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4754880"/>
            <a:ext cx="3474720" cy="13716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79" y="4937760"/>
            <a:ext cx="30175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34D399"/>
                </a:solidFill>
              </a:defRPr>
            </a:pPr>
            <a:r>
              <a:t>OTOMATİK YATIŞTIRMA</a:t>
            </a:r>
          </a:p>
          <a:p>
            <a:pPr>
              <a:spcAft>
                <a:spcPts val="600"/>
              </a:spcAft>
              <a:defRPr sz="1350" b="1">
                <a:solidFill>
                  <a:srgbClr val="FFFFFF"/>
                </a:solidFill>
              </a:defRPr>
            </a:pPr>
            <a:r>
              <a:t>3. 432Hz Pembe Gürültü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</a:defRPr>
            </a:pPr>
            <a:r>
              <a:t>Öneri onaylanır onaylanmaz ses otomatik başlar; ebeveyn ekranı kilitleyip uyuyabilir.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i="1">
                <a:solidFill>
                  <a:srgbClr val="64748B"/>
                </a:solidFill>
              </a:defRPr>
            </a:pPr>
            <a:r>
              <a:t>Kaynak &amp; Metodoloji: Video Varlığı: Mışıl_Baby_Sorunsuz_Birlestirilmis.mp4 (1280x720 16:9 • 19 Sn Canlı Tanıtım)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FB7185"/>
                </a:solidFill>
              </a:defRPr>
            </a:pPr>
            <a:r>
              <a:t>[ ⚡ PAZAR BÜYÜKLÜĞÜ &amp; FIRSAT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50" b="1">
                <a:solidFill>
                  <a:srgbClr val="FFFFFF"/>
                </a:solidFill>
              </a:defRPr>
            </a:pPr>
            <a:r>
              <a:t>Küresel 8.4 Milyar Dolarlık Pazarda, Sadece %0.75'lik Bir Dilim Bizi Kâra Geçiriyor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43584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Türkiye'den başlayarak MENA ve Avrupa'ya genişleyen cerrahi hedefleme.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818CF8"/>
                </a:solidFill>
              </a:defRPr>
            </a:pPr>
            <a:r>
              <a:t>KÜRESEL PAZAR</a:t>
            </a:r>
          </a:p>
          <a:p>
            <a:pPr>
              <a:spcAft>
                <a:spcPts val="600"/>
              </a:spcAft>
              <a:defRPr sz="1350" b="1">
                <a:solidFill>
                  <a:srgbClr val="FFFFFF"/>
                </a:solidFill>
              </a:defRPr>
            </a:pPr>
            <a:r>
              <a:t>TAM: $8.4 Milyar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</a:defRPr>
            </a:pPr>
            <a:r>
              <a:t>• Küresel Bebek Bakım ve Uyku Teknolojileri Pazarı (BabyTech).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</a:defRPr>
            </a:pPr>
            <a:r>
              <a:t>• Yıllık Bileşik Büyüme Oranı (CAGR): %11.4.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</a:defRPr>
            </a:pPr>
            <a:r>
              <a:t>• Dijital sağlık ve ebeveynlik aboneliklerinde rekor büyüme.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645920"/>
            <a:ext cx="3291840" cy="45720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82880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38BDF8"/>
                </a:solidFill>
              </a:defRPr>
            </a:pPr>
            <a:r>
              <a:t>TÜRKİYE HAVUZU</a:t>
            </a:r>
          </a:p>
          <a:p>
            <a:pPr>
              <a:spcAft>
                <a:spcPts val="600"/>
              </a:spcAft>
              <a:defRPr sz="1350" b="1">
                <a:solidFill>
                  <a:srgbClr val="FFFFFF"/>
                </a:solidFill>
              </a:defRPr>
            </a:pPr>
            <a:r>
              <a:t>SAM: 3.000.000 Aile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</a:defRPr>
            </a:pPr>
            <a:r>
              <a:t>• Türkiye'de her yıl 1.032.000 yeni doğum (TÜİK verisi).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</a:defRPr>
            </a:pPr>
            <a:r>
              <a:t>• 0-36 ay bebek havuzunda 3 milyon aktif aile.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</a:defRPr>
            </a:pPr>
            <a:r>
              <a:t>• Toplam Pazar Hacmi: ~1.2 Milyar TL dijital bebek harcaması.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645920"/>
            <a:ext cx="3291840" cy="45720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182880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34D399"/>
                </a:solidFill>
              </a:defRPr>
            </a:pPr>
            <a:r>
              <a:t>İLK HEDEF DİLİM</a:t>
            </a:r>
          </a:p>
          <a:p>
            <a:pPr>
              <a:spcAft>
                <a:spcPts val="600"/>
              </a:spcAft>
              <a:defRPr sz="1350" b="1">
                <a:solidFill>
                  <a:srgbClr val="FFFFFF"/>
                </a:solidFill>
              </a:defRPr>
            </a:pPr>
            <a:r>
              <a:t>SOM: 450.000 A/B Aile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</a:defRPr>
            </a:pPr>
            <a:r>
              <a:t>• Akıllı telefon kullanan, dijital abonelik kültürüne sahip A/B segmenti.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</a:defRPr>
            </a:pPr>
            <a:r>
              <a:t>• Kritik Eşik: Bu kitlenin binde 7.5'ine (3.400 abone) ulaşmak şirketi başabaşa taşır.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</a:defRPr>
            </a:pPr>
            <a:r>
              <a:t>• 3. Yıl Hedefi: 22.500 Aktif Abone (%5 Pazar Payı). Fetih değil, cerrahi hedef.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i="1">
                <a:solidFill>
                  <a:srgbClr val="64748B"/>
                </a:solidFill>
              </a:defRPr>
            </a:pPr>
            <a:r>
              <a:t>Kaynak &amp; Metodoloji: Grand View Research Global Baby Care Tech Report 2024; T.C. TÜİK 2024 Doğum İstatistikleri.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FB7185"/>
                </a:solidFill>
              </a:defRPr>
            </a:pPr>
            <a:r>
              <a:t>[ ⚡ ALGORİTMİK KALE &amp; TEKNOLOJİ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50" b="1">
                <a:solidFill>
                  <a:srgbClr val="FFFFFF"/>
                </a:solidFill>
              </a:defRPr>
            </a:pPr>
            <a:r>
              <a:t>Kopyalanması Kolay Değil: Üç Katmanlı Bir Ar-Ge Hendeği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43584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Hafta sonunda kopyalanamayacak, aylar süren derin sinyal işleme mühendisliği.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66344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818CF8"/>
                </a:solidFill>
              </a:defRPr>
            </a:pPr>
            <a:r>
              <a:t>SİRKADİYEN HESAPLAMA</a:t>
            </a:r>
          </a:p>
          <a:p>
            <a:pPr>
              <a:spcAft>
                <a:spcPts val="600"/>
              </a:spcAft>
              <a:defRPr sz="1350" b="1">
                <a:solidFill>
                  <a:srgbClr val="FFFFFF"/>
                </a:solidFill>
              </a:defRPr>
            </a:pPr>
            <a:r>
              <a:t>Dinamik Wake Window Matematiksel Formülü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</a:defRPr>
            </a:pPr>
            <a:r>
              <a:t>• 8 farklı pediatrik yaş grubuna göre taban süre hesabı (45 dk - 240 dk).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</a:defRPr>
            </a:pPr>
            <a:r>
              <a:t>• Önceki uyku &lt;30 dk ise: max(20, round(base_window * 0.85)) kortizol kalkanı.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</a:defRPr>
            </a:pPr>
            <a:r>
              <a:t>• Uykuya 15 dk kala yerel donanım bildirimi (expo-notifications).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2103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828800"/>
            <a:ext cx="466344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FB7185"/>
                </a:solidFill>
              </a:defRPr>
            </a:pPr>
            <a:r>
              <a:t>AKUSTİK MAKİNE ÖĞRENMESİ</a:t>
            </a:r>
          </a:p>
          <a:p>
            <a:pPr>
              <a:spcAft>
                <a:spcPts val="600"/>
              </a:spcAft>
              <a:defRPr sz="1350" b="1">
                <a:solidFill>
                  <a:srgbClr val="FFFFFF"/>
                </a:solidFill>
              </a:defRPr>
            </a:pPr>
            <a:r>
              <a:t>Librosa Akustik DSP Ağlama Sınıflandırması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</a:defRPr>
            </a:pPr>
            <a:r>
              <a:t>• 22.050 Hz normalizasyon, 13 katsayılı MFCC, ZCR ve Spectral Centroid.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</a:defRPr>
            </a:pPr>
            <a:r>
              <a:t>• Centroid &gt; 2600 Hz veya ZCR &gt; 0.12: Gaz / Kolik / Akut Ağrı.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</a:defRPr>
            </a:pPr>
            <a:r>
              <a:t>• Softmax exp(v*2.5) olasılık motoru ile medikal tanı iddiasından kaçınan yasal koruma.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5120640" cy="219456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206240"/>
            <a:ext cx="46634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34D399"/>
                </a:solidFill>
              </a:defRPr>
            </a:pPr>
            <a:r>
              <a:t>DSP SES MÜHENDİSLİĞİ</a:t>
            </a:r>
          </a:p>
          <a:p>
            <a:pPr>
              <a:spcAft>
                <a:spcPts val="600"/>
              </a:spcAft>
              <a:defRPr sz="1350" b="1">
                <a:solidFill>
                  <a:srgbClr val="FFFFFF"/>
                </a:solidFill>
              </a:defRPr>
            </a:pPr>
            <a:r>
              <a:t>Kesintisiz Ses Döngüsü (Zero Loop Latency)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</a:defRPr>
            </a:pPr>
            <a:r>
              <a:t>• 0.0 ms kliksiz döngü: 2.5 saniyelik kosinüs yumuşak çapraz geçiş (crossfade).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</a:defRPr>
            </a:pPr>
            <a:r>
              <a:t>• UIBackgroundModes ['audio'] ve WAKE_LOCK ile ekran kapalıyken kesintisiz çalma.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</a:defRPr>
            </a:pPr>
            <a:r>
              <a:t>• Stetoskopik derinlikte -14 LUFS lüks akustik tını.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4023360"/>
            <a:ext cx="5120640" cy="219456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4206240"/>
            <a:ext cx="46634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38BDF8"/>
                </a:solidFill>
              </a:defRPr>
            </a:pPr>
            <a:r>
              <a:t>MİMARİ GÜVENLİK</a:t>
            </a:r>
          </a:p>
          <a:p>
            <a:pPr>
              <a:spcAft>
                <a:spcPts val="600"/>
              </a:spcAft>
              <a:defRPr sz="1350" b="1">
                <a:solidFill>
                  <a:srgbClr val="FFFFFF"/>
                </a:solidFill>
              </a:defRPr>
            </a:pPr>
            <a:r>
              <a:t>Offline-First Güvenlik &amp; Dayanıklılık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</a:defRPr>
            </a:pPr>
            <a:r>
              <a:t>• offlineHtml.generated.ts ile internetsiz ortamda tam fonksiyon.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</a:defRPr>
            </a:pPr>
            <a:r>
              <a:t>• Cihaz donanım kasasında şifreli veri (expo-secure-store).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</a:defRPr>
            </a:pPr>
            <a:r>
              <a:t>• Global RFC 7807 hata yönetimi ve X-Request-ID mikro-loglama.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i="1">
                <a:solidFill>
                  <a:srgbClr val="64748B"/>
                </a:solidFill>
              </a:defRPr>
            </a:pPr>
            <a:r>
              <a:t>Kaynak &amp; Metodoloji: Mishil Baby Backend &amp; Mobile Kaynak Kodları (wake_window.py, cry_analysis.py, app.config.ts)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FB7185"/>
                </a:solidFill>
              </a:defRPr>
            </a:pPr>
            <a:r>
              <a:t>[ ⚡ REKABET ANALİZİ &amp; BENCHMARK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50" b="1">
                <a:solidFill>
                  <a:srgbClr val="FFFFFF"/>
                </a:solidFill>
              </a:defRPr>
            </a:pPr>
            <a:r>
              <a:t>Huckleberry $60'a Tek Şey Yapıyor. Biz ₺600'e Dördünü Birden Yapıyoruz.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43584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Sadece daha ucuz olmak değil — daha eksiksiz olmak, ve fiyatın üçte biriyle.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FB7185"/>
                </a:solidFill>
                <a:latin typeface="Consolas"/>
              </a:defRPr>
            </a:pPr>
            <a:r>
              <a:t>Özellik / Yetenek            | Huckleberry (ABD)    | Napper (İsveç)     | CryAnalyzer (Japonya)  | MIŞIL BABY (HİBRİT)</a:t>
            </a:r>
          </a:p>
          <a:p>
            <a:pPr>
              <a:spcAft>
                <a:spcPts val="600"/>
              </a:spcAft>
              <a:defRPr sz="950" b="1">
                <a:solidFill>
                  <a:srgbClr val="E2E8F0"/>
                </a:solidFill>
                <a:latin typeface="Consolas"/>
              </a:defRPr>
            </a:pPr>
            <a:r>
              <a:t>Dinamik Wake Window          | ✓ (SweetSpot)        | ✓ (AI Plan)        | ✗ Yok                  | ✓✓ (15 Dk Önceden Alarm + Daraltma)</a:t>
            </a:r>
          </a:p>
          <a:p>
            <a:pPr>
              <a:spcAft>
                <a:spcPts val="600"/>
              </a:spcAft>
              <a:defRPr sz="950" b="1">
                <a:solidFill>
                  <a:srgbClr val="E2E8F0"/>
                </a:solidFill>
                <a:latin typeface="Consolas"/>
              </a:defRPr>
            </a:pPr>
            <a:r>
              <a:t>Ağlama Sesi Akustik DSP      | ✗ Yok                | ✗ Yok              | ✓ (Tek Başına)         | ✓✓ (Librosa 13-MFCC + Aksiyon Planı)</a:t>
            </a:r>
          </a:p>
          <a:p>
            <a:pPr>
              <a:spcAft>
                <a:spcPts val="600"/>
              </a:spcAft>
              <a:defRPr sz="950" b="0">
                <a:solidFill>
                  <a:srgbClr val="E2E8F0"/>
                </a:solidFill>
                <a:latin typeface="Consolas"/>
              </a:defRPr>
            </a:pPr>
            <a:r>
              <a:t>432Hz Stüdyo Sesi / Ninni    | Kısıtlı / Sentetik   | Standart           | ✗ Yok                  | ✓✓ (Dikişsiz Kosinüs Döngü -14 LUFS)</a:t>
            </a:r>
          </a:p>
          <a:p>
            <a:pPr>
              <a:spcAft>
                <a:spcPts val="600"/>
              </a:spcAft>
              <a:defRPr sz="950" b="0">
                <a:solidFill>
                  <a:srgbClr val="E2E8F0"/>
                </a:solidFill>
                <a:latin typeface="Consolas"/>
              </a:defRPr>
            </a:pPr>
            <a:r>
              <a:t>Tam Çevrimdışı Çalışma       | ✗ İnternet Şart      | Kısıtlı            | ✗ Bulut Şart           | ✓✓ (Tamamen Offline Kurtarma)</a:t>
            </a:r>
          </a:p>
          <a:p>
            <a:pPr>
              <a:spcAft>
                <a:spcPts val="600"/>
              </a:spcAft>
              <a:defRPr sz="950" b="0">
                <a:solidFill>
                  <a:srgbClr val="E2E8F0"/>
                </a:solidFill>
                <a:latin typeface="Consolas"/>
              </a:defRPr>
            </a:pPr>
            <a:r>
              <a:t>Gelişim &amp; Rutin Takibi       | ✓ (Aşırı Karmaşık)   | ✓ (Sade)           | ✗ Yok                  | ✓✓ (Zahmetsiz Tek Dokunuş)</a:t>
            </a:r>
          </a:p>
          <a:p>
            <a:pPr>
              <a:spcAft>
                <a:spcPts val="600"/>
              </a:spcAft>
              <a:defRPr sz="950" b="1">
                <a:solidFill>
                  <a:srgbClr val="FFFFFF"/>
                </a:solidFill>
                <a:latin typeface="Consolas"/>
              </a:defRPr>
            </a:pPr>
            <a:r>
              <a:t>Yıllık Abonelik Fiyatı       | $59.99 (~₺2.100)     | $49.99 (~₺1.750)   | $35.00 (~₺1.200)       | ₺599.99 ($17.15 - Giriş Avantajı)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i="1">
                <a:solidFill>
                  <a:srgbClr val="64748B"/>
                </a:solidFill>
              </a:defRPr>
            </a:pPr>
            <a:r>
              <a:t>Kaynak &amp; Metodoloji: projects/mishil/BENCHMARK_ANALYSIS.md Resmi Sektör Raporu ve App Store Verileri.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FB7185"/>
                </a:solidFill>
              </a:defRPr>
            </a:pPr>
            <a:r>
              <a:t>[ ⚡ PAZAR KONUMLANDIRMA RADARI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50" b="1">
                <a:solidFill>
                  <a:srgbClr val="FFFFFF"/>
                </a:solidFill>
              </a:defRPr>
            </a:pPr>
            <a:r>
              <a:t>Altı Eksende, Tek Rakip Bile Bizimle Aynı Çeyrekte Değil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43584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Ebeveyn bir sorunu çözdükten sonra başka uygulamaya geçmiyor; döngü Mışıl Baby'de kapanıyor.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47548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ishil_radar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737360"/>
            <a:ext cx="4389120" cy="43891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760720" y="1645920"/>
            <a:ext cx="5669280" cy="21488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89320" y="1828800"/>
            <a:ext cx="521208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FB7185"/>
                </a:solidFill>
              </a:defRPr>
            </a:pPr>
            <a:r>
              <a:t>EKOSİSTEM GÜCÜ</a:t>
            </a:r>
          </a:p>
          <a:p>
            <a:pPr>
              <a:spcAft>
                <a:spcPts val="600"/>
              </a:spcAft>
              <a:defRPr sz="1350" b="1">
                <a:solidFill>
                  <a:srgbClr val="FFFFFF"/>
                </a:solidFill>
              </a:defRPr>
            </a:pPr>
            <a:r>
              <a:t>Haksız Rekabet Avantajı (Unfair Advantage)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</a:defRPr>
            </a:pPr>
            <a:r>
              <a:t>• Rakipler tek bir fonksiyonda sıkışırken, Mışıl Baby uykuyu sesle, sesi analizle birleştirir.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</a:defRPr>
            </a:pPr>
            <a:r>
              <a:t>• Ebeveyn ağlama teşhisinden hemen sonra tek dokunuşla yatıştırıcı frekansı başlatır.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</a:defRPr>
            </a:pPr>
            <a:r>
              <a:t>• Ekosistemin gücü: %3.8 gibi rekor düşük aylık churn (kayıp) oranı.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0" y="4069080"/>
            <a:ext cx="5669280" cy="21488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89320" y="4251960"/>
            <a:ext cx="521208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34D399"/>
                </a:solidFill>
              </a:defRPr>
            </a:pPr>
            <a:r>
              <a:t>LOKALİZASYON KOZU</a:t>
            </a:r>
          </a:p>
          <a:p>
            <a:pPr>
              <a:spcAft>
                <a:spcPts val="600"/>
              </a:spcAft>
              <a:defRPr sz="1350" b="1">
                <a:solidFill>
                  <a:srgbClr val="FFFFFF"/>
                </a:solidFill>
              </a:defRPr>
            </a:pPr>
            <a:r>
              <a:t>Yerelleşme &amp; Fiyat Bariyeri Yıkımı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</a:defRPr>
            </a:pPr>
            <a:r>
              <a:t>• Global devlerin $50-$60 bandındaki fiyatları Türkiye ebeveynleri için yüksek bir bariyerdir.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</a:defRPr>
            </a:pPr>
            <a:r>
              <a:t>• Mışıl Baby, yerel ₺599.99 VIP fiyatıyla pazar penetrasyonunu 3 kat hızlandırır.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</a:defRPr>
            </a:pPr>
            <a:r>
              <a:t>• Toplanan yerel ağlama veri seti global pazarlara (MENA &amp; EU) açılımda moat oluşturur.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i="1">
                <a:solidFill>
                  <a:srgbClr val="64748B"/>
                </a:solidFill>
              </a:defRPr>
            </a:pPr>
            <a:r>
              <a:t>Kaynak &amp; Metodoloji: tools/infographic_engine.py ile üretilen 6 Eksenli Çoklu Model Radar Matrisi.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FB7185"/>
                </a:solidFill>
              </a:defRPr>
            </a:pPr>
            <a:r>
              <a:t>[ ⚡ İŞ MODELİ &amp; FİYATLANDIRMA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50" b="1">
                <a:solidFill>
                  <a:srgbClr val="FFFFFF"/>
                </a:solidFill>
              </a:defRPr>
            </a:pPr>
            <a:r>
              <a:t>Canlı, Test Edilmiş, Kanıtlanmış: 3 Katmanlı Gelir Motoru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43584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Yüksek dönüşümlü 3 günlük soft trial ve değer arttıkça büyüyen ARPU mimarisi.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2468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10512"/>
            <a:ext cx="2834640" cy="2139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818CF8"/>
                </a:solidFill>
              </a:defRPr>
            </a:pPr>
            <a:r>
              <a:t>%65 KULLANICI</a:t>
            </a:r>
          </a:p>
          <a:p>
            <a:pPr>
              <a:defRPr sz="1250" b="1">
                <a:solidFill>
                  <a:srgbClr val="FFFFFF"/>
                </a:solidFill>
              </a:defRPr>
            </a:pPr>
            <a:r>
              <a:t>👑 YILLIK VIP (Amiral Gemisi)</a:t>
            </a:r>
          </a:p>
          <a:p>
            <a:pPr>
              <a:spcAft>
                <a:spcPts val="600"/>
              </a:spcAft>
              <a:defRPr sz="1600" b="1">
                <a:solidFill>
                  <a:srgbClr val="818CF8"/>
                </a:solidFill>
              </a:defRPr>
            </a:pPr>
            <a:r>
              <a:t>₺599.99 / Yıl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</a:defRPr>
            </a:pPr>
            <a:r>
              <a:t>• 3 Gün Ücretsiz Deneme ile başlar.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</a:defRPr>
            </a:pPr>
            <a:r>
              <a:t>• Aylık sadece ₺49.99 eşdeğeri (%67 Tasarruf).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</a:defRPr>
            </a:pPr>
            <a:r>
              <a:t>• En yüksek LTV ve %65 tercih oranı.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645920"/>
            <a:ext cx="3291840" cy="2468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810512"/>
            <a:ext cx="2834640" cy="2139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38BDF8"/>
                </a:solidFill>
              </a:defRPr>
            </a:pPr>
            <a:r>
              <a:t>%25 KULLANICI</a:t>
            </a:r>
          </a:p>
          <a:p>
            <a:pPr>
              <a:defRPr sz="1250" b="1">
                <a:solidFill>
                  <a:srgbClr val="FFFFFF"/>
                </a:solidFill>
              </a:defRPr>
            </a:pPr>
            <a:r>
              <a:t>AYLIK VIP (Taahhütsüz)</a:t>
            </a:r>
          </a:p>
          <a:p>
            <a:pPr>
              <a:spcAft>
                <a:spcPts val="600"/>
              </a:spcAft>
              <a:defRPr sz="1600" b="1">
                <a:solidFill>
                  <a:srgbClr val="38BDF8"/>
                </a:solidFill>
              </a:defRPr>
            </a:pPr>
            <a:r>
              <a:t>₺149.99 / Ay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</a:defRPr>
            </a:pPr>
            <a:r>
              <a:t>• Esnek aylık abonelik.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</a:defRPr>
            </a:pPr>
            <a:r>
              <a:t>• Kısa vadeli kolik krizinde acil çözüm.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</a:defRPr>
            </a:pPr>
            <a:r>
              <a:t>• Win-back kampanyalarıyla yıllığa dönüştürme.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645920"/>
            <a:ext cx="3291840" cy="2468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1810512"/>
            <a:ext cx="2834640" cy="2139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FBBF24"/>
                </a:solidFill>
              </a:defRPr>
            </a:pPr>
            <a:r>
              <a:t>%10 KULLANICI</a:t>
            </a:r>
          </a:p>
          <a:p>
            <a:pPr>
              <a:defRPr sz="1250" b="1">
                <a:solidFill>
                  <a:srgbClr val="FFFFFF"/>
                </a:solidFill>
              </a:defRPr>
            </a:pPr>
            <a:r>
              <a:t>ÖMÜR BOYU VIP (Aile Paketi)</a:t>
            </a:r>
          </a:p>
          <a:p>
            <a:pPr>
              <a:spcAft>
                <a:spcPts val="600"/>
              </a:spcAft>
              <a:defRPr sz="1600" b="1">
                <a:solidFill>
                  <a:srgbClr val="FBBF24"/>
                </a:solidFill>
              </a:defRPr>
            </a:pPr>
            <a:r>
              <a:t>₺2.499.99 Tek Sefer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</a:defRPr>
            </a:pPr>
            <a:r>
              <a:t>• Gelecek tüm bebekler ve tüm aile için.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</a:defRPr>
            </a:pPr>
            <a:r>
              <a:t>• Anında nakit akışı yaratan yüksek sepet.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</a:defRPr>
            </a:pPr>
            <a:r>
              <a:t>• Sıfır churn ve marka elçiliği.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343400"/>
            <a:ext cx="10698480" cy="19202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526280"/>
            <a:ext cx="1024128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34D399"/>
                </a:solidFill>
              </a:defRPr>
            </a:pPr>
            <a:r>
              <a:t>GELİR ARTIŞ STRATEJİSİ</a:t>
            </a:r>
          </a:p>
          <a:p>
            <a:pPr>
              <a:spcAft>
                <a:spcPts val="600"/>
              </a:spcAft>
              <a:defRPr sz="1350" b="1">
                <a:solidFill>
                  <a:srgbClr val="FFFFFF"/>
                </a:solidFill>
              </a:defRPr>
            </a:pPr>
            <a:r>
              <a:t>Kademeli Zamlandırma &amp; Değer Eskalasyonu Yol Haritası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</a:defRPr>
            </a:pPr>
            <a:r>
              <a:t>• 1. Faz (Yıl 1 - Hızlı Pazar Penetrasyonu): ₺599.99 Yıllık / ₺149.99 Aylık ile hızla veri ve kullanıcı tabanı toplama.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</a:defRPr>
            </a:pPr>
            <a:r>
              <a:t>• 2. Faz (Yıl 2 - Klinik Doğrulama &amp; Değer Zammı): Yıllık ₺899.99 (+%50), Aylık ₺199.99, Ömür Boyu ₺3.499.99. Blended ARPU 84 TL -&gt; 125 TL.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</a:defRPr>
            </a:pPr>
            <a:r>
              <a:t>• 3. Faz (Yıl 3 - Global MENA &amp; EU Açılımı): Global $39.99/Yıl tier'ı devreye girerek döviz bazlı yüksek marj sağlanacak.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i="1">
                <a:solidFill>
                  <a:srgbClr val="64748B"/>
                </a:solidFill>
              </a:defRPr>
            </a:pPr>
            <a:r>
              <a:t>Kaynak &amp; Metodoloji: RevenueCat Canlı VIP Fiyatlandırması (Seçenek B) &amp; APP_STORE_LISTING.md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FB7185"/>
                </a:solidFill>
              </a:defRPr>
            </a:pPr>
            <a:r>
              <a:t>[ ⚡ GELİR PROJEKSİYONU &amp; KOHORT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50" b="1">
                <a:solidFill>
                  <a:srgbClr val="FFFFFF"/>
                </a:solidFill>
              </a:defRPr>
            </a:pPr>
            <a:r>
              <a:t>Yıl 1'de Temel, Yıl 2'de Kâr, Yıl 3'te Küresel Sıçrama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43584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AppsFlyer elde tutma benchmark'larına dayalı, muhafazakâr kohort modeli.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47088"/>
            <a:ext cx="2834640" cy="4169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818CF8"/>
                </a:solidFill>
              </a:defRPr>
            </a:pPr>
            <a:r>
              <a:t>TEMEL ATMA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1. YIL (Penetrasyon)</a:t>
            </a:r>
          </a:p>
          <a:p>
            <a:pPr>
              <a:spcAft>
                <a:spcPts val="800"/>
              </a:spcAft>
              <a:defRPr sz="1700" b="1">
                <a:solidFill>
                  <a:srgbClr val="818CF8"/>
                </a:solidFill>
              </a:defRPr>
            </a:pPr>
            <a:r>
              <a:t>$260.000 ARR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Toplam İndirme: 65.000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Aktif Ücretli Abone: 5.200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Aylık MRR: $21.500 (~750.000 TL)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Trial -&gt; Paid: %12.5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Aylık Churn: %3.8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Hedef: Türkiye'de ASO liderliği ve marka bilinirliği oturtmak.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847088"/>
            <a:ext cx="2834640" cy="4169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38BDF8"/>
                </a:solidFill>
              </a:defRPr>
            </a:pPr>
            <a:r>
              <a:t>KÂRLI BÜYÜME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2. YIL (Ölçeklenme)</a:t>
            </a:r>
          </a:p>
          <a:p>
            <a:pPr>
              <a:spcAft>
                <a:spcPts val="800"/>
              </a:spcAft>
              <a:defRPr sz="1700" b="1">
                <a:solidFill>
                  <a:srgbClr val="38BDF8"/>
                </a:solidFill>
              </a:defRPr>
            </a:pPr>
            <a:r>
              <a:t>$640.000 ARR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Toplam İndirme: 190.000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Aktif Ücretli Abone: 12.800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Aylık MRR: $53.300 (~1.850.000 TL)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Fiyat Artışı: ₺899 Yıllık VIP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Klinik Araştırma Lansmanı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Hedef: Şirketin tamamen kendi nakit akışıyla kârlı büyümesi.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1847088"/>
            <a:ext cx="2834640" cy="4169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34D399"/>
                </a:solidFill>
              </a:defRPr>
            </a:pPr>
            <a:r>
              <a:t>GLOBAL ÖLÇEK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3. YIL (Global Açılım)</a:t>
            </a:r>
          </a:p>
          <a:p>
            <a:pPr>
              <a:spcAft>
                <a:spcPts val="800"/>
              </a:spcAft>
              <a:defRPr sz="1700" b="1">
                <a:solidFill>
                  <a:srgbClr val="34D399"/>
                </a:solidFill>
              </a:defRPr>
            </a:pPr>
            <a:r>
              <a:t>$1.150.000 ARR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Toplam İndirme: 380.000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Aktif Ücretli Abone: 22.500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Yıllık ARR: ~40.000.000 TL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MENA &amp; DACH Bölgesi Lansmanı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%38 FAVÖK (EBITDA) Marjı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Hedef: Stratejik satın alma veya Seri-A turuna hazır hale gelmek.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i="1">
                <a:solidFill>
                  <a:srgbClr val="64748B"/>
                </a:solidFill>
              </a:defRPr>
            </a:pPr>
            <a:r>
              <a:t>Kaynak &amp; Metodoloji: SaaS Cohort Model &amp; AppsFlyer Parenting App Retention Benchmarks (2024).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FB7185"/>
                </a:solidFill>
              </a:defRPr>
            </a:pPr>
            <a:r>
              <a:t>[ ⚡ İNSAN KAYNAKLARI &amp; YALIN KADRO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50" b="1">
                <a:solidFill>
                  <a:srgbClr val="FFFFFF"/>
                </a:solidFill>
              </a:defRPr>
            </a:pPr>
            <a:r>
              <a:t>En Büyük Rekabet Avantajımız Bir Kişi Değil — Bir Yöntem: Sıfır Sabit Yazılımcı Maaşı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43584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Yıllık 1.5 Milyon TL personel tasarrufu doğrudan yeni abone getiren pazarlamaya gidiyor.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21488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66344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34D399"/>
                </a:solidFill>
              </a:defRPr>
            </a:pPr>
            <a:r>
              <a:t>YALIN YAZILIM AVANTAJI</a:t>
            </a:r>
          </a:p>
          <a:p>
            <a:pPr>
              <a:spcAft>
                <a:spcPts val="600"/>
              </a:spcAft>
              <a:defRPr sz="1350" b="1">
                <a:solidFill>
                  <a:srgbClr val="FFFFFF"/>
                </a:solidFill>
              </a:defRPr>
            </a:pPr>
            <a:r>
              <a:t>Yazılımcı Bordrosu Gerekli mi? -&gt; HAYIR!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</a:defRPr>
            </a:pPr>
            <a:r>
              <a:t>• Mışıl Baby zaten çalışan, test edilmiş, canlı bir üründür (v4.10+).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</a:defRPr>
            </a:pPr>
            <a:r>
              <a:t>• Geliştirme &amp; bakım: Kurucu + Antigravity/Claude/Codex AI harness ile yürütülür.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</a:defRPr>
            </a:pPr>
            <a:r>
              <a:t>• Tasarruf: Yılda en az 1.500.000 TL personel gideri doğrudan pazarlamaya aktarılır.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21488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828800"/>
            <a:ext cx="466344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818CF8"/>
                </a:solidFill>
              </a:defRPr>
            </a:pPr>
            <a:r>
              <a:t>ÇEKİRDEK LİDERLİK</a:t>
            </a:r>
          </a:p>
          <a:p>
            <a:pPr>
              <a:spcAft>
                <a:spcPts val="600"/>
              </a:spcAft>
              <a:defRPr sz="1350" b="1">
                <a:solidFill>
                  <a:srgbClr val="FFFFFF"/>
                </a:solidFill>
              </a:defRPr>
            </a:pPr>
            <a:r>
              <a:t>Kurucu &amp; Ürün Mimarı (MG) [Must-Have]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</a:defRPr>
            </a:pPr>
            <a:r>
              <a:t>• Vizyon, mimari tasarım, AI orkestrasyonu ve stratejik büyüme yönetimi.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</a:defRPr>
            </a:pPr>
            <a:r>
              <a:t>• Günlük ürün geliştirmeleri ve kod doğrulama süreçleri.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</a:defRPr>
            </a:pPr>
            <a:r>
              <a:t>• Yatırımcı ilişkileri ve sermaye tahsisi liderliği.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69080"/>
            <a:ext cx="5120640" cy="21488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251960"/>
            <a:ext cx="466344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FB7185"/>
                </a:solidFill>
              </a:defRPr>
            </a:pPr>
            <a:r>
              <a:t>BÜYÜME MOTORU</a:t>
            </a:r>
          </a:p>
          <a:p>
            <a:pPr>
              <a:spcAft>
                <a:spcPts val="600"/>
              </a:spcAft>
              <a:defRPr sz="1350" b="1">
                <a:solidFill>
                  <a:srgbClr val="FFFFFF"/>
                </a:solidFill>
              </a:defRPr>
            </a:pPr>
            <a:r>
              <a:t>Büyüme &amp; Performans Pazarlama [Must-Have]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</a:defRPr>
            </a:pPr>
            <a:r>
              <a:t>• Tam Zamanlı Growth Lead: Meta Ads, TikTok Spark Ads, Google UAC uzmanı.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</a:defRPr>
            </a:pPr>
            <a:r>
              <a:t>• ASO optimizasyonu, viral anne-bebek mikro-influencer yönetimi.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</a:defRPr>
            </a:pPr>
            <a:r>
              <a:t>• Müşteri edinme maliyetini (CAC) 150 TL altında tutma hedefi.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4069080"/>
            <a:ext cx="5120640" cy="21488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4251960"/>
            <a:ext cx="466344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38BDF8"/>
                </a:solidFill>
              </a:defRPr>
            </a:pPr>
            <a:r>
              <a:t>UZMAN DANIŞMA KURULU</a:t>
            </a:r>
          </a:p>
          <a:p>
            <a:pPr>
              <a:spcAft>
                <a:spcPts val="600"/>
              </a:spcAft>
              <a:defRPr sz="1350" b="1">
                <a:solidFill>
                  <a:srgbClr val="FFFFFF"/>
                </a:solidFill>
              </a:defRPr>
            </a:pPr>
            <a:r>
              <a:t>Pediatrik Danışma &amp; Teknik Havuz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</a:defRPr>
            </a:pPr>
            <a:r>
              <a:t>• Pediatrist &amp; Çocuk Uyku Danışmanı (Part-Time): Klinik doğrulama ve güvenilirlik.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</a:defRPr>
            </a:pPr>
            <a:r>
              <a:t>• On-Demand Teknik Danışmanlık Havuzu (Nice-to-Have): İhtiyaç oldukça çağrılan uzman mühendislik.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</a:defRPr>
            </a:pPr>
            <a:r>
              <a:t>• Sabit bordro yükü yerine esnek proje bazlı telif modeli.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i="1">
                <a:solidFill>
                  <a:srgbClr val="64748B"/>
                </a:solidFill>
              </a:defRPr>
            </a:pPr>
            <a:r>
              <a:t>Kaynak &amp; Metodoloji: 18 Aylık Yalın Organizasyon Şeması ve Operasyonel Verimlilik Modeli.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FB7185"/>
                </a:solidFill>
              </a:defRPr>
            </a:pPr>
            <a:r>
              <a:t>[ ⚡ FON KULLANIMI &amp; OPEX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50" b="1">
                <a:solidFill>
                  <a:srgbClr val="FFFFFF"/>
                </a:solidFill>
              </a:defRPr>
            </a:pPr>
            <a:r>
              <a:t>Her Doların %55'i Doğrudan Yeni Bir Aboneye Dönüşüyor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43584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Ofis kiralamak yerine her kalemi büyümeye veya güvenliğe bağlanan sermaye verimliliği.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21488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66344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FB7185"/>
                </a:solidFill>
              </a:defRPr>
            </a:pPr>
            <a:r>
              <a:t>ANA BÜYÜME BÜTÇESİ</a:t>
            </a:r>
          </a:p>
          <a:p>
            <a:pPr>
              <a:spcAft>
                <a:spcPts val="600"/>
              </a:spcAft>
              <a:defRPr sz="1350" b="1">
                <a:solidFill>
                  <a:srgbClr val="FFFFFF"/>
                </a:solidFill>
              </a:defRPr>
            </a:pPr>
            <a:r>
              <a:t>1. Pazarlama &amp; Büyüme (%55 - $110.000 / 3.85M TL)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</a:defRPr>
            </a:pPr>
            <a:r>
              <a:t>• Meta Ads (Instagram/Facebook Anne-Bebek kitle reklamları).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</a:defRPr>
            </a:pPr>
            <a:r>
              <a:t>• TikTok Spark Ads &amp; Organik Ebeveyn İçerikleri.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</a:defRPr>
            </a:pPr>
            <a:r>
              <a:t>• Google UAC ve ASO Keyword Boost.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</a:defRPr>
            </a:pPr>
            <a:r>
              <a:t>• 150+ Mikro Anne-Influencer deneyimleme kampanyaları.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21488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828800"/>
            <a:ext cx="466344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818CF8"/>
                </a:solidFill>
              </a:defRPr>
            </a:pPr>
            <a:r>
              <a:t>YALIN PERSONEL</a:t>
            </a:r>
          </a:p>
          <a:p>
            <a:pPr>
              <a:spcAft>
                <a:spcPts val="600"/>
              </a:spcAft>
              <a:defRPr sz="1350" b="1">
                <a:solidFill>
                  <a:srgbClr val="FFFFFF"/>
                </a:solidFill>
              </a:defRPr>
            </a:pPr>
            <a:r>
              <a:t>2. Çekirdek Kadro &amp; Danışmanlık (%25 - $50.000 / 1.75M TL)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</a:defRPr>
            </a:pPr>
            <a:r>
              <a:t>• Kurucu yönetim payı ve Tam Zamanlı Büyüme/Pazarlama Lideri maaşı.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</a:defRPr>
            </a:pPr>
            <a:r>
              <a:t>• Pediatrik Danışma Kurulu vaka/içerik telifleri.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</a:defRPr>
            </a:pPr>
            <a:r>
              <a:t>• İhtiyaç duyuldukça çağrılan proje bazlı teknik danışmanlık havuzu.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69080"/>
            <a:ext cx="5120640" cy="21488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251960"/>
            <a:ext cx="466344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38BDF8"/>
                </a:solidFill>
              </a:defRPr>
            </a:pPr>
            <a:r>
              <a:t>ALTYAPI &amp; ARAÇLAR</a:t>
            </a:r>
          </a:p>
          <a:p>
            <a:pPr>
              <a:spcAft>
                <a:spcPts val="600"/>
              </a:spcAft>
              <a:defRPr sz="1350" b="1">
                <a:solidFill>
                  <a:srgbClr val="FFFFFF"/>
                </a:solidFill>
              </a:defRPr>
            </a:pPr>
            <a:r>
              <a:t>3. Bulut, AI &amp; Mağaza (%8 - $16.000 / 560K TL)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</a:defRPr>
            </a:pPr>
            <a:r>
              <a:t>• Railway hosting, Librosa DSP çıkarım sunucuları.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</a:defRPr>
            </a:pPr>
            <a:r>
              <a:t>• RevenueCat abonelik altyapısı, Sentry hata izleme, Mixpanel.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</a:defRPr>
            </a:pPr>
            <a:r>
              <a:t>• Apple Developer ve Google Play kurumsal hesap lisansları.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4069080"/>
            <a:ext cx="5120640" cy="21488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4251960"/>
            <a:ext cx="466344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FBBF24"/>
                </a:solidFill>
              </a:defRPr>
            </a:pPr>
            <a:r>
              <a:t>HUKUK &amp; EMNİYET YASTIĞI</a:t>
            </a:r>
          </a:p>
          <a:p>
            <a:pPr>
              <a:spcAft>
                <a:spcPts val="600"/>
              </a:spcAft>
              <a:defRPr sz="1350" b="1">
                <a:solidFill>
                  <a:srgbClr val="FFFFFF"/>
                </a:solidFill>
              </a:defRPr>
            </a:pPr>
            <a:r>
              <a:t>4. Klinik, KVKK &amp; Emniyet Buffer'ı (%12 - $24.000 / 840K TL)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</a:defRPr>
            </a:pPr>
            <a:r>
              <a:t>• KVKK veri güvenliği, patent ön başvurusu, pediatrik klinik testler ($8.000).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</a:defRPr>
            </a:pPr>
            <a:r>
              <a:t>• Operasyonel Emniyet Payı (Kış Buffer'ı): $16.000 beklenmeyen gider ve kur dalgalanma kalkanı.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i="1">
                <a:solidFill>
                  <a:srgbClr val="64748B"/>
                </a:solidFill>
              </a:defRPr>
            </a:pPr>
            <a:r>
              <a:t>Kaynak &amp; Metodoloji: 18 Aylık Pist Nakit Akış Tablosu (USD/TRY: 35.00 baz alınmıştır).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FB7185"/>
                </a:solidFill>
              </a:defRPr>
            </a:pPr>
            <a:r>
              <a:t>[ ⚡ 3 SENARYOLU BÜYÜME &amp; STRES TESTİ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50" b="1">
                <a:solidFill>
                  <a:srgbClr val="FFFFFF"/>
                </a:solidFill>
              </a:defRPr>
            </a:pPr>
            <a:r>
              <a:t>En Kötü Senaryoda Bile 18 Ayın Sonunda Nakitte Kalıyoruz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43584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Stres testi yapmayan kurucu modelini sorgulamamış demektir. Kış buffer'ı disiplinimizin kanıtı.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34D399"/>
                </a:solidFill>
              </a:defRPr>
            </a:pPr>
            <a:r>
              <a:t>VİRAL BÜYÜME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🟢 İYİ SENARYO (Agresif)</a:t>
            </a:r>
          </a:p>
          <a:p>
            <a:pPr>
              <a:spcAft>
                <a:spcPts val="600"/>
              </a:spcAft>
              <a:defRPr sz="1500" b="1">
                <a:solidFill>
                  <a:srgbClr val="34D399"/>
                </a:solidFill>
              </a:defRPr>
            </a:pPr>
            <a:r>
              <a:t>11. Ayda Başabaş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</a:defRPr>
            </a:pPr>
            <a:r>
              <a:t>• Müşteri Edinimi (CAC): 110 TL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</a:defRPr>
            </a:pPr>
            <a:r>
              <a:t>• Trial -&gt; Paid Dönüşüm: %16.0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</a:defRPr>
            </a:pPr>
            <a:r>
              <a:t>• Aylık Churn (Kayıp): %2.8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</a:defRPr>
            </a:pPr>
            <a:r>
              <a:t>• LTV / CAC Oranı: 7.5x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</a:defRPr>
            </a:pPr>
            <a:r>
              <a:t>• Başabaş Abone: 2.800 Abone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</a:defRPr>
            </a:pPr>
            <a:r>
              <a:t>• 18 Aylık Kasa Fazlası: +$78.000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</a:defRPr>
            </a:pPr>
            <a:r>
              <a:t>• 3. Yıl ARR: $1.850.000 (~65M TL)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</a:defRPr>
            </a:pPr>
            <a:r>
              <a:t>• Yatırımcı Getirisi (ROI): 10.5x Çarpan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818CF8"/>
                </a:solidFill>
              </a:defRPr>
            </a:pPr>
            <a:r>
              <a:t>HEDEFLENEN BAZ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🟡 ORTA SENARYO (Hedeflenen)</a:t>
            </a:r>
          </a:p>
          <a:p>
            <a:pPr>
              <a:spcAft>
                <a:spcPts val="600"/>
              </a:spcAft>
              <a:defRPr sz="1500" b="1">
                <a:solidFill>
                  <a:srgbClr val="818CF8"/>
                </a:solidFill>
              </a:defRPr>
            </a:pPr>
            <a:r>
              <a:t>14. Ayda Başabaş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</a:defRPr>
            </a:pPr>
            <a:r>
              <a:t>• Müşteri Edinimi (CAC): 150 TL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</a:defRPr>
            </a:pPr>
            <a:r>
              <a:t>• Trial -&gt; Paid Dönüşüm: %12.5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</a:defRPr>
            </a:pPr>
            <a:r>
              <a:t>• Aylık Churn (Kayıp): %3.8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</a:defRPr>
            </a:pPr>
            <a:r>
              <a:t>• LTV / CAC Oranı: 4.8x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</a:defRPr>
            </a:pPr>
            <a:r>
              <a:t>• Başabaş Abone: 3.400 Abone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</a:defRPr>
            </a:pPr>
            <a:r>
              <a:t>• 18 Aylık Kasa Fazlası: +$32.000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</a:defRPr>
            </a:pPr>
            <a:r>
              <a:t>• 3. Yıl ARR: $1.150.000 (~40M TL)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</a:defRPr>
            </a:pPr>
            <a:r>
              <a:t>• Yatırımcı Getirisi (ROI): 6.5x Çarpan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FB7185"/>
                </a:solidFill>
              </a:defRPr>
            </a:pPr>
            <a:r>
              <a:t>STRES TESTİ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🔴 KÖTÜ SENARYO (Kış Buffer'ı)</a:t>
            </a:r>
          </a:p>
          <a:p>
            <a:pPr>
              <a:spcAft>
                <a:spcPts val="600"/>
              </a:spcAft>
              <a:defRPr sz="1500" b="1">
                <a:solidFill>
                  <a:srgbClr val="FB7185"/>
                </a:solidFill>
              </a:defRPr>
            </a:pPr>
            <a:r>
              <a:t>16. Ayda Başabaş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</a:defRPr>
            </a:pPr>
            <a:r>
              <a:t>• Müşteri Edinimi (CAC): 220 TL (+%47)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</a:defRPr>
            </a:pPr>
            <a:r>
              <a:t>• Trial -&gt; Paid Dönüşüm: %9.5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</a:defRPr>
            </a:pPr>
            <a:r>
              <a:t>• Aylık Churn (Kayıp): %5.2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</a:defRPr>
            </a:pPr>
            <a:r>
              <a:t>• LTV / CAC Oranı: 3.0x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</a:defRPr>
            </a:pPr>
            <a:r>
              <a:t>• Başabaş Abone: 4.200 Abone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</a:defRPr>
            </a:pPr>
            <a:r>
              <a:t>• 18 Aylık Pist: +$12.000 (2 Ay Buffer)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</a:defRPr>
            </a:pPr>
            <a:r>
              <a:t>• 3. Yıl ARR: $620.000 (~21.5M TL)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</a:defRPr>
            </a:pPr>
            <a:r>
              <a:t>• Yatırımcı Getirisi (ROI): 3.4x Çarpan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i="1">
                <a:solidFill>
                  <a:srgbClr val="64748B"/>
                </a:solidFill>
              </a:defRPr>
            </a:pPr>
            <a:r>
              <a:t>Kaynak &amp; Metodoloji: Monte Carlo &amp; Hassasiyet Analizi Tabanlı 3 Senaryolu Stres Testi.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FB7185"/>
                </a:solidFill>
              </a:defRPr>
            </a:pPr>
            <a:r>
              <a:t>[ ⚡ YATIRIM TALEBİ &amp; ÇIKIŞ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50" b="1">
                <a:solidFill>
                  <a:srgbClr val="FFFFFF"/>
                </a:solidFill>
              </a:defRPr>
            </a:pPr>
            <a:r>
              <a:t>Bize Katılın: Geceyi Huzura Dönüştüren Bir Ekosistemi Birlikte Ölçekleyelim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43584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Kârlı, sermaye verimli ve küresel ölçeklenme potansiyeline sahip ortaklık.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21488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66344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34D399"/>
                </a:solidFill>
              </a:defRPr>
            </a:pPr>
            <a:r>
              <a:t>TOHUM TURU</a:t>
            </a:r>
          </a:p>
          <a:p>
            <a:pPr>
              <a:spcAft>
                <a:spcPts val="600"/>
              </a:spcAft>
              <a:defRPr sz="1350" b="1">
                <a:solidFill>
                  <a:srgbClr val="FFFFFF"/>
                </a:solidFill>
              </a:defRPr>
            </a:pPr>
            <a:r>
              <a:t>Yatırım Talebi (The Ask)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</a:defRPr>
            </a:pPr>
            <a:r>
              <a:t>• Hedeflenen Fon: $200.000 (~7.000.000 TL) Tohum Turu.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</a:defRPr>
            </a:pPr>
            <a:r>
              <a:t>• Önerilen Hisse Oranı: %15 (Post-Money Değerleme: $1.33M / ~46.5M TL).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</a:defRPr>
            </a:pPr>
            <a:r>
              <a:t>• Pist (Runway): 18 Ay (En kötü senaryoda 2 ay net kış buffer'ı).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21488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828800"/>
            <a:ext cx="466344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818CF8"/>
                </a:solidFill>
              </a:defRPr>
            </a:pPr>
            <a:r>
              <a:t>EXIT VİZYONU</a:t>
            </a:r>
          </a:p>
          <a:p>
            <a:pPr>
              <a:spcAft>
                <a:spcPts val="600"/>
              </a:spcAft>
              <a:defRPr sz="1350" b="1">
                <a:solidFill>
                  <a:srgbClr val="FFFFFF"/>
                </a:solidFill>
              </a:defRPr>
            </a:pPr>
            <a:r>
              <a:t>Stratejik Çıkış (Exit) Rotaları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</a:defRPr>
            </a:pPr>
            <a:r>
              <a:t>• Küresel Bebek Markaları: Pampers/P&amp;G, Philips Avent, Chicco.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</a:defRPr>
            </a:pPr>
            <a:r>
              <a:t>• Dijital Sağlık Devleri: Flo Health, Calm, Noom, Huckleberry.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</a:defRPr>
            </a:pPr>
            <a:r>
              <a:t>• 3. Yıl Sonu Hedef Değerleme: $7.5M - $12M (Tohum yatırımcısı için 5.5x - 10.5x Getiri).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69080"/>
            <a:ext cx="10698480" cy="21488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251960"/>
            <a:ext cx="1024128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FB7185"/>
                </a:solidFill>
              </a:defRPr>
            </a:pPr>
            <a:r>
              <a:t>İLETİŞİM &amp; ORTAKLIK</a:t>
            </a:r>
          </a:p>
          <a:p>
            <a:pPr>
              <a:spcAft>
                <a:spcPts val="600"/>
              </a:spcAft>
              <a:defRPr sz="1350" b="1">
                <a:solidFill>
                  <a:srgbClr val="FFFFFF"/>
                </a:solidFill>
              </a:defRPr>
            </a:pPr>
            <a:r>
              <a:t>Birlikte Geceyi Huzura Dönüştürelim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</a:defRPr>
            </a:pPr>
            <a:r>
              <a:t>• Kurucu &amp; Ürün Mimarı: MG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</a:defRPr>
            </a:pPr>
            <a:r>
              <a:t>• E-Posta: contact@misilbaby.com  •  Konum: İstanbul, Türkiye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</a:defRPr>
            </a:pPr>
            <a:r>
              <a:t>• Canlı Demo &amp; Mağaza Erişimi: Google Play &amp; App Store (v4.10 Canlı Sürüm)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</a:defRPr>
            </a:pPr>
            <a:r>
              <a:t>• 'Mışıl Baby: Geceyi Huzura, Veriyi Uykuya Dönüştüren Akıllı Ebeveyn Asistanı'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i="1">
                <a:solidFill>
                  <a:srgbClr val="64748B"/>
                </a:solidFill>
              </a:defRPr>
            </a:pPr>
            <a:r>
              <a:t>Kaynak &amp; Metodoloji: Mışıl Baby Yatırımcı İlişkileri 2026 • Tüm Hakları Saklıdır.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