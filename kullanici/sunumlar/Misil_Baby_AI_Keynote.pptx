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1645920"/>
            <a:ext cx="1463040" cy="7315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[ 👶 TIER-1 AI BABYCARE ECOSYSTEM ]</a:t>
            </a:r>
          </a:p>
          <a:p>
            <a:pPr>
              <a:spcBef>
                <a:spcPts val="800"/>
              </a:spcBef>
              <a:defRPr sz="4800" b="1">
                <a:solidFill>
                  <a:srgbClr val="FFFFFF"/>
                </a:solidFill>
              </a:defRPr>
            </a:pPr>
            <a:r>
              <a:t>Mışıl Baby</a:t>
            </a:r>
          </a:p>
          <a:p>
            <a:pPr>
              <a:spcBef>
                <a:spcPts val="1000"/>
              </a:spcBef>
              <a:defRPr sz="2100" b="1">
                <a:solidFill>
                  <a:srgbClr val="FB7185"/>
                </a:solidFill>
              </a:defRPr>
            </a:pPr>
            <a:r>
              <a:t>Yeni Nesil Yapay Zekâ Destekli Bebek Uyku &amp; Bütünleşik Ebeveynlik Ekosistemi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Sirkadiyen Ritim • Librosa DSP Ağlama Analizi • Gemini 3.5 Flash Canlı Dadı • 18 Gerçek Stüdyo Kaydı</a:t>
            </a:r>
            <a:br/>
            <a:r>
              <a:t>Tier-1 Keynote Edition • Versiyon 7.34.0 • Ağustos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[ 01 • PAZAR PROBLEMİ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Ebeveynlerin Yaşadığı Kriz: Uykusuzluk &amp; Parçalanmış Çözümler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🌙 Kronik Uykusuzluk &amp; Tükenmişlik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Yeni ebeveynlerin %82'si ilk 12 ayda ciddi uyku yoksunluğu ve aşırı yorgunluk eşiği (over-tiredness) nedeniyle tükenmişlik yaşıyor.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🧩 Parçalanmış Uygulama Çöplüğü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Ebeveynler bir yanda uyku sayacı, diğer yanda beyaz gürültü, başka bir uygulamada atak takvimi arasında kayboluyor.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❓ Ağlama Sinyallerini Anlayamama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Bebeğin gaz sancısı mı, açlık mı yoksa uyku yorgunluğu mu çektiğini ayırt edememek acil panik ve stres kaynağı yaratıyor.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💸 Yüksek &amp; Erişilmez Maliyetler</a:t>
            </a:r>
          </a:p>
          <a:p>
            <a:pPr>
              <a:spcBef>
                <a:spcPts val="1400"/>
              </a:spcBef>
              <a:defRPr sz="1300">
                <a:solidFill>
                  <a:srgbClr val="E2E8F0"/>
                </a:solidFill>
              </a:defRPr>
            </a:pPr>
            <a:r>
              <a:t>Yabancı uygulamaların (Huckleberry vb.) $60+/yıl fahiş abonelik ücretleri ve Türkiye'ye uyarlanmamış soğuk içerikleri.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[ 02 • ÜRÜN ÇÖZÜMÜ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Mışıl Baby: 5 Çekirdek Güç ile Bütünleşik Bebek Ekosistemi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804672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1. Akıllı SweetSpot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Bebeğin ayına ve uyanma saatine göre ideal uyku saatini öteleyen dinamik Sirkadiyen motor.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78608"/>
            <a:ext cx="10725912" cy="804672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88336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7185"/>
                </a:solidFill>
              </a:defRPr>
            </a:pPr>
            <a:r>
              <a:t>2. Librosa DSP Ağlama Analizi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5 saniyelik mikrofon sesinden Açlık, Uyku, Gaz, Rahatsızlık ve İlgi teşhisi.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11296"/>
            <a:ext cx="10725912" cy="804672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21024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3. Mışıl Dadı (Canlı LLM)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Gemini 3.5 Flash ile &lt;300ms SSE kelime akışı, sıfır gevezelik, şefkatli klinik hap bilgi.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43984"/>
            <a:ext cx="10725912" cy="804672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5371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4. 18 Gerçek Stüdyo Kaydı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Sentetik yapay frekanslar yerine gerçek stetoskop kalp atışı, su altı anne karnı ve ninniler.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76672"/>
            <a:ext cx="10725912" cy="804672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86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5. Dinamik Wonder Weeks</a:t>
            </a:r>
          </a:p>
          <a:p>
            <a:pPr>
              <a:spcBef>
                <a:spcPts val="200"/>
              </a:spcBef>
              <a:defRPr sz="1200">
                <a:solidFill>
                  <a:srgbClr val="E2E8F0"/>
                </a:solidFill>
              </a:defRPr>
            </a:pPr>
            <a:r>
              <a:t>10 Zihinsel sıçrama haftası, fırtına zirvesi ve erken atak başlatma modu (Early Leap).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[ 03 • KLİNİK UYKU MOTORU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Akıllı SweetSpot: Dinamik Wake Window &amp; Uykusuzluk Kalkanı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18CF8"/>
                </a:solidFill>
              </a:defRPr>
            </a:pPr>
            <a:r>
              <a:t>🎯 Dinamik Algoritma &amp; Sirkadiyen Ritim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Bebeğin doğum ayı ve ritmine göre uyanıklık penceresi (örn. 4. Ay: 90-120 dk) hassas hesaplanır.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Bebek uyandığı an SweetSpot sıfırlanır ve sıradaki uyku vakti dakika dakika geri sayılır.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Over-tiredness Shield: Aşırı yorgunluk eşiğinde acil yatıştırma protokolü devreye girer.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Klinik Skor: Skor = (Suyku x 0.40) + (Ssweetspot x 0.35) + (Satak x 0.25)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%84+ Ortalama Uyku Uyumu ile uykuya dalma süresi 24 dakikadan 7 dakikaya geriler.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56632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phone_sweetspot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487375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[ 04 • AKUSTİK AI MOTORU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Librosa Akustik DSP: 5 Kategorili Akıllı Ağlama Teşhisi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03504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y_spectrogram_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585216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49440" y="1645920"/>
            <a:ext cx="4507992" cy="137160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7830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🍼 Açlık (Neh)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450 Hz emme refleksi ve melodik yükselen formant pikleri.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136391"/>
            <a:ext cx="4507992" cy="137160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273551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7185"/>
                </a:solidFill>
              </a:defRPr>
            </a:pPr>
            <a:r>
              <a:t>💨 Gaz Sancısı (Eairh)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250 Hz yüksek basınçlı ve ani patlayan karın kasılma dalgaları.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626864"/>
            <a:ext cx="4507992" cy="137160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764024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🔒 RAM'de Sıfır-Depolama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5 sn ses RAM'de FFT analizinden sonra diske yazılmadan derhal imha edilir.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[ 05 • AI DADI &amp; REHBERLİK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Mışıl Dadı: Canlı Kelime Akışı (SSE) &amp; Şefkatli Klinik Zeka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⚡ &lt;300ms Canlı Kelime Akışı (SSE)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Google Gemini 3.5 Flash :streamGenerateContent SSE motoru ile çalışır.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Ebeveyn soru sorduğu an kelimeler ekrana harf harf akıtılır.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Token kesilmesi veya sunucu zaman aşımı riski %100 sıfırlanmıştır.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7185"/>
                </a:solidFill>
              </a:defRPr>
            </a:pPr>
            <a:r>
              <a:t>🎯 Doğrudan Odak &amp; Hap Bilgi (v2.6.1)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Ezber 'derin nefes al' gibi edebiyatlar temizlendi.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55-100 kelimelik net, uygulanabilir, klinik hap öneri formatı.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Bağlam İzolasyonu: Soru oda sıcaklığı ise zorla atak dersi verilmez.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🌡️ Sıcaklık: 0.40 &amp; Empati Kalkanı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Halüsinasyon ve sapmalar tamamen engellendi.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Anne 👩 / Baba 👨 / Dadı 👵 rollerine özel kişiselleştirilmiş şefkatli hitap.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Pediatrik güvenlik sınırlarında doğru yönlendirme ve acil durum kalkanı.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[ 06 • SES MÜHENDİSLİĞİ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18 Parçalık Gerçek Stüdyo &amp; Alan Kaydı Ses Kütüphanesi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io_sounds_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512064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645920"/>
            <a:ext cx="5239512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🎚️ -14 LUFS Broadcast Stüdyo Mastering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🎶 5 Akustik Ninni: Brahms, Twinkle Star, Dandini, Ay Dede (Mekanik müzik kutusu ve piyano).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🫀 4 Anne Karnı &amp; Kalp: Triküspit stetoskop Lub-Dub gerçek kalp atışı, su altı plasenta akışı.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🤫 5 Pışpış &amp; Gürültü: Gerçek insan 5S pışpışlaması (Shush), fön makinesi, derin kahverengi gürültü.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🌧️ 4 Doğa &amp; Huzur: Gece yağmuru, sakin okyanus dalgaları, hafif yaz rüzgarı, orman gecesi.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• 🔒 Kesintisiz Gapless Loop &amp; Arka Planda Çalma donanım desteği.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[ 07 • GELİŞİMSEL PSİKOLOJİ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Wonder Weeks: 10 Zihinsel Sıçrama &amp; Erken Atak Radarı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265176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onder_weeks_cosm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10543032" cy="2468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480560"/>
            <a:ext cx="5257800" cy="16459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⚡ Dinamik Gelişim Algoritması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Atak fırtınasının zirvesine kalan gün sayısı dinamik yüzde çubuğu ile takip edilir; bebeğin kazanacağı yeni bilişsel beceriler önceden bildirilir.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4480560"/>
            <a:ext cx="5257800" cy="16459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7185"/>
                </a:solidFill>
              </a:defRPr>
            </a:pPr>
            <a:r>
              <a:t>🚨 Manuel Erken Atak Modu (Early Leap)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Bebek takvimden önce huysuzlaştığında tek tıkla atağı başlatır; SweetSpot uyanıklık penceresi otomatik 15 dk daraltılarak yorgunluk önlenir.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[ 08 • BENCHMARK ANALİZİ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Küresel Pazar Karşılaştırması: Rakipler vs. Mışıl Baby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rket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438912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0" y="1645920"/>
            <a:ext cx="5788152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🏆 Mışıl Baby Temel Rekabet Üstünlükleri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Tek Çatı Altında 5'li Ekosistem: Huckleberry sadece uyku, CryAnalyzer sadece ses analiz ederken; Mışıl hepsini birleştirir.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Canlı Streaming LLM: Rakiplerde bulunmayan, &lt;300ms SSE kelime akışıyla çalışan kişiselleştirilmiş AI Dadı.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18 Stüdyo Master Kaydı: Sentetik sinüs sesleri yerine gerçek stetoskop ve insan pışpışı.</a:t>
            </a:r>
          </a:p>
          <a:p>
            <a:pPr>
              <a:spcBef>
                <a:spcPts val="1000"/>
              </a:spcBef>
              <a:defRPr sz="1200">
                <a:solidFill>
                  <a:srgbClr val="E2E8F0"/>
                </a:solidFill>
              </a:defRPr>
            </a:pPr>
            <a:r>
              <a:t>• Yerel Fiyatlandırma: Global rakiplerin $60+/yıl fiyatlarına karşılık Türkiye'ye özel ₺599.99/yıl ve ₺149.99/ay erişim.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[ 09 • TEKNİK MİMARİ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Yüksek Performanslı Dağıtık Mimari &amp; Gerçek Zamanlı Bulut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03504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oud_architecture_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585216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49440" y="1645920"/>
            <a:ext cx="4507992" cy="137160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7830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18CF8"/>
                </a:solidFill>
              </a:defRPr>
            </a:pPr>
            <a:r>
              <a:t>⚡ Backend &amp; FastAPI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Python FastAPI + Uvicorn ASGI motoru &amp; Librosa DSP akustik sinyal analizi.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136391"/>
            <a:ext cx="4507992" cy="137160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273551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🐘 PostgreSQL Kalıcılığı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Railway üzerinde %100 Canlı PostgreSQL, SQLAlchemy 2.0 ORM ve veri izolasyonu.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626864"/>
            <a:ext cx="4507992" cy="137160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764024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7185"/>
                </a:solidFill>
              </a:defRPr>
            </a:pPr>
            <a:r>
              <a:t>🔄 Function-Bun WebSocket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Ebeveyn &amp; Dadı anlık veri senkronizasyonu (&lt;50ms gecikme) ve SSE akışı.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[ 10 • GELİR &amp; HUKUKİ UYUM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İş Modeli: 3'lü Plan Seçici &amp; Apple Guideline 3.1.2 Uyumu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📅 Aylık Abonelik</a:t>
            </a:r>
          </a:p>
          <a:p>
            <a:pPr>
              <a:spcBef>
                <a:spcPts val="600"/>
              </a:spcBef>
              <a:defRPr sz="2000" b="1">
                <a:solidFill>
                  <a:srgbClr val="818CF8"/>
                </a:solidFill>
              </a:defRPr>
            </a:pPr>
            <a:r>
              <a:t>₺149.99 / Ay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Kısa vadeli esneklik arayan ebeveynler için sınırsız erişim.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310896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👑 Yıllık Plan (Önerilen)</a:t>
            </a:r>
          </a:p>
          <a:p>
            <a:pPr>
              <a:spcBef>
                <a:spcPts val="600"/>
              </a:spcBef>
              <a:defRPr sz="2000" b="1">
                <a:solidFill>
                  <a:srgbClr val="FB7185"/>
                </a:solidFill>
              </a:defRPr>
            </a:pPr>
            <a:r>
              <a:t>₺599.99 / Yıl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3 Gün Ücretsiz Deneme • Ayda sadece ₺49.99 (%66 İndirim). En popüler paket.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3108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💎 Ömür Boyu Erişim</a:t>
            </a:r>
          </a:p>
          <a:p>
            <a:pPr>
              <a:spcBef>
                <a:spcPts val="600"/>
              </a:spcBef>
              <a:defRPr sz="2000" b="1">
                <a:solidFill>
                  <a:srgbClr val="818CF8"/>
                </a:solidFill>
              </a:defRPr>
            </a:pPr>
            <a:r>
              <a:t>₺1.499.99 Tek Sefer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Tüm gelecek bebekler ve güncellemeler dahil tek seferlik kalıcı lisans.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725912" cy="128016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🩺 Apple Guideline 3.1.2 &amp; AAP Pediatrik Güvenlik Uyumu (TASK-001 &amp; TASK-002)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Onboarding sürecinde açık tıbbi feragatname ve onay zorunluluğu (Uygulama tıbbi teşhis cihazı değildir).</a:t>
            </a:r>
            <a:br/>
            <a:r>
              <a:t>• Dinamik deneme bitiş tarihi ve tek tıkla App Store abonelik iptal yönetim şeffaflığı.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note_unifie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840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[ 11 • ROADMAP &amp; VISION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Gelecek Vizyonu: 2026 Yol Haritası &amp; Küresel Büyüme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7185"/>
                </a:solidFill>
              </a:defRPr>
            </a:pPr>
            <a:r>
              <a:t>Q3 2026 • Lansman &amp; Stabilizasyon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Türkiye pazarı lansmanı (iOS &amp; Android PWA)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18 stüdyo parçasının mobil çevrimdışı önbelleği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Mışıl Dadı SSE streaming tam canlıya alma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7185"/>
                </a:solidFill>
              </a:defRPr>
            </a:pPr>
            <a:r>
              <a:t>Q4 2026 • Giyilebilir Entegrasyon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Apple Watch &amp; WearOS SweetSpot komplikasyonu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Bebeğin nabız ve sıcaklık sensör entegrasyonu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Akıllı beşik ve IoT gece lambası bağlantıları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474720" cy="4389120"/>
          </a:xfrm>
          <a:prstGeom prst="roundRect">
            <a:avLst/>
          </a:prstGeom>
          <a:solidFill>
            <a:srgbClr val="131B2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3" y="182880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7185"/>
                </a:solidFill>
              </a:defRPr>
            </a:pPr>
            <a:r>
              <a:t>Q1 2027 • Küresel Açılım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İngilizce, Almanca ve İspanyolca lokalizasyon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Mene &amp; LATAM pazarına yerel ödeme altyapısı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Klinik pediatri dernekleri ile akademik validasyon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