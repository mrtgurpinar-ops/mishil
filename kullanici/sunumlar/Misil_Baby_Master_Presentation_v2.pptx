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sh_d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1645920"/>
            <a:ext cx="14630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[ 21ST.DEV • AI BABYCARE ECOSYSTEM ]</a:t>
            </a:r>
          </a:p>
          <a:p>
            <a:pPr>
              <a:spcBef>
                <a:spcPts val="800"/>
              </a:spcBef>
              <a:defRPr sz="4600" b="1">
                <a:solidFill>
                  <a:srgbClr val="0F172A"/>
                </a:solidFill>
              </a:defRPr>
            </a:pPr>
            <a:r>
              <a:t>Mışıl Baby</a:t>
            </a:r>
          </a:p>
          <a:p>
            <a:pPr>
              <a:spcBef>
                <a:spcPts val="1000"/>
              </a:spcBef>
              <a:defRPr sz="2000" b="1">
                <a:solidFill>
                  <a:srgbClr val="F43F5E"/>
                </a:solidFill>
              </a:defRPr>
            </a:pPr>
            <a:r>
              <a:t>Yeni Nesil Yapay Zekâ Destekli Bebek Uyku &amp; Bütünleşik Ebeveynlik Ekosistemi</a:t>
            </a:r>
          </a:p>
          <a:p>
            <a:pPr>
              <a:spcBef>
                <a:spcPts val="2400"/>
              </a:spcBef>
              <a:defRPr sz="1300">
                <a:solidFill>
                  <a:srgbClr val="475569"/>
                </a:solidFill>
              </a:defRPr>
            </a:pPr>
            <a:r>
              <a:t>Sirkadiyen Ritim • Librosa DSP Ağlama Analizi • Gemini 3.5 Flash Canlı Dadı • 18 Gerçek Stüdyo Kaydı</a:t>
            </a:r>
            <a:br/>
            <a:r>
              <a:t>Tier-1 Design Engineering • Versiyon 7.33.0 • Ağustos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[ 01 • PAZAR PROBLEMİ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Ebeveynlerin Yaşadığı Kriz: Uykusuzluk &amp; Parçalanmış Çözümler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🌙 Kronik Uykusuzluk &amp; Tükenmişlik</a:t>
            </a:r>
          </a:p>
          <a:p>
            <a:pPr>
              <a:spcBef>
                <a:spcPts val="1400"/>
              </a:spcBef>
              <a:defRPr sz="1300">
                <a:solidFill>
                  <a:srgbClr val="475569"/>
                </a:solidFill>
              </a:defRPr>
            </a:pPr>
            <a:r>
              <a:t>Yeni ebeveynlerin %82'si ilk 12 ayda ciddi uyku yoksunluğu ve aşırı yorgunluk eşiği (over-tiredness) nedeniyle tükenmişlik yaşıyor.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🧩 Parçalanmış Uygulama Çöplüğü</a:t>
            </a:r>
          </a:p>
          <a:p>
            <a:pPr>
              <a:spcBef>
                <a:spcPts val="1400"/>
              </a:spcBef>
              <a:defRPr sz="1300">
                <a:solidFill>
                  <a:srgbClr val="475569"/>
                </a:solidFill>
              </a:defRPr>
            </a:pPr>
            <a:r>
              <a:t>Ebeveynler bir yanda uyku sayacı, diğer yanda beyaz gürültü, başka bir uygulamada atak takvimi arasında kayboluyor.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❓ Ağlama Sinyallerini Anlayamama</a:t>
            </a:r>
          </a:p>
          <a:p>
            <a:pPr>
              <a:spcBef>
                <a:spcPts val="1400"/>
              </a:spcBef>
              <a:defRPr sz="1300">
                <a:solidFill>
                  <a:srgbClr val="475569"/>
                </a:solidFill>
              </a:defRPr>
            </a:pPr>
            <a:r>
              <a:t>Bebeğin gaz sancısı mı, açlık mı yoksa uyku yorgunluğu mu çektiğini ayırt edememek acil panik kaynağı yaratıyor.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💸 Yüksek &amp; Erişilmez Maliyetler</a:t>
            </a:r>
          </a:p>
          <a:p>
            <a:pPr>
              <a:spcBef>
                <a:spcPts val="1400"/>
              </a:spcBef>
              <a:defRPr sz="1300">
                <a:solidFill>
                  <a:srgbClr val="475569"/>
                </a:solidFill>
              </a:defRPr>
            </a:pPr>
            <a:r>
              <a:t>Yabancı uygulamaların (Huckleberry vb.) $60+/yıl fahiş abonelik ücretleri ve Türkiye'ye uyarlanmamış soğuk içerikleri.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[ 02 • ÜRÜN ÇÖZÜMÜ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Mışıl Baby: 5 Çekirdek Güç ile Bütünleşik Bebek Ekosistemi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8046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556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1. Akıllı SweetSpot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Bebeğin ayına ve uyanma saatine göre ideal uyku saatini öteleyen dinamik Sirkadiyen motor.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78608"/>
            <a:ext cx="1072591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88336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Librosa DSP Ağlama Analizi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5 saniyelik mikrofon sesinden Açlık, Uyku, Gaz, Rahatsızlık ve İlgi teşhisi.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11296"/>
            <a:ext cx="10725912" cy="8046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621024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3. Mışıl Dadı (Canlı LLM)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Gemini 3.5 Flash ile &lt;300ms SSE kelime akışı, sıfır gevezelik, şefkatli klinik hap bilgi.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43984"/>
            <a:ext cx="1072591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5371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4. 18 Gerçek Stüdyo Kaydı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Sentetik yapay frekanslar yerine gerçek stetoskop kalp atışı, su altı anne karnı ve ninniler.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76672"/>
            <a:ext cx="1072591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486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5. Dinamik Wonder Weeks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10 Zihinsel sıçrama haftası, fırtına zirvesi ve erken atak başlatma modu (Early Leap).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[ 03 • KLİNİK UYKU MOTORU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Akıllı SweetSpot: Dinamik Wake Window &amp; Uykusuzluk Kalkanı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5669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366F1"/>
                </a:solidFill>
              </a:defRPr>
            </a:pPr>
            <a:r>
              <a:t>🎯 Dinamik Algoritma &amp; Sirkadiyen Denge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Bebeğin doğum ayı ve ritmine göre uyanıklık penceresi (örn. 4. Ay: 90-120 dk) hesaplanır.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Bebek uyandığı an SweetSpot sıfırlanır ve bir sonraki ideal yatırma zamanı dakika dakika geri sayılır.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Over-tiredness Shield: Aşırı yorgunluk eşiği aşıldığında sistem acil yatıştırma protokolünü devreye alır.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Matematiksel Skor: Skor = (Suyku x 0.40) + (Ssweetspot x 0.35) + (Satak x 0.25)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432511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weetspot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0"/>
            <a:ext cx="356616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[ 04 • AKUSTİK AI MOTORU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Librosa Akustik DSP: 5 Kategorili Akıllı Ağlama Teşhisi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pectrogram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737360"/>
            <a:ext cx="7772400" cy="2103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114800"/>
            <a:ext cx="347472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🍼 Açlık &amp; Emme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Melodik ve emme refleksiyle yükselen 450 Hz frekans pikleri.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4114800"/>
            <a:ext cx="347472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42976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💨 Gaz &amp; Sancı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Karın kasılmasıyla patlayan 250 Hz yüksek basınçlı tiz tonlar.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4114800"/>
            <a:ext cx="347472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3" y="42976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🔒 RAM'de 0-Depolama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5 sn ham ses RAM analizinden sonra diske yazılmadan anında kalıcı imha edilir.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[ 05 • AI DADI &amp; REHBERLİK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Mışıl Dadı: Canlı Kelime Akışı (SSE) &amp; Şefkatli Klinik Zeka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⚡ &lt;300ms Canlı Kelime Akışı (SSE)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Google Gemini 3.5 Flash :streamGenerateContent SSE motoru ile çalışır.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Ebeveyn soru sorduğu an kelimeler ekrana harf harf akıtılır.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Token kesilmesi veya sunucu zaman aşımı riski %100 sıfırlanmıştır.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747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🎯 Doğrudan Odak &amp; Hap Bilgi (v2.6.1)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Ezber 'derin nefes al' gibi edebiyatlar temizlendi.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55-100 kelimelik net, uygulanabilir, klinik hap öneri formatı.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Bağlam İzolasyonu: Soru oda sıcaklığı ise zorla atak dersi verilmez.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4747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3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🌡️ Sıcaklık: 0.40 &amp; Empati Kalkanı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Halüsinasyon ve sapmalar tamamen engellendi.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Anne 👩 / Baba 👨 / Dadı 👵 rollerine özel kişiselleştirilmiş şefkatli hitap.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Pediatrik güvenlik sınırlarında doğru yönlendirme ve acil durum kalkanı.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[ 06 • SES MÜHENDİSLİĞİ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18 Parçalık Gerçek Stüdyo &amp; Alan Kaydı Ses Kütüphanesi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🎶 5 Akustik Ninni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Brahms Lullaby, Twinkle Star, Uyusun da Büyüsün, Dandini Dandini, Ay Dede Ninnisi (Gerçek mekanik müzik kutusu ve piyano).</a:t>
            </a:r>
          </a:p>
          <a:p>
            <a:pPr>
              <a:spcBef>
                <a:spcPts val="600"/>
              </a:spcBef>
              <a:defRPr sz="1000">
                <a:solidFill>
                  <a:srgbClr val="6366F1"/>
                </a:solidFill>
              </a:defRPr>
            </a:pPr>
            <a:r>
              <a:t>🎚️ -14 LUFS Broadcast Standardı • Kesintisiz Gapless Loop • Arka Planda Çalma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🫀 4 Anne Karnı &amp; Kalp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Triküspit stetoskop Lub-Dub gerçek kalp atışı, hidrofon su altı plasenta akışı, amniyotik pembe yankı.</a:t>
            </a:r>
          </a:p>
          <a:p>
            <a:pPr>
              <a:spcBef>
                <a:spcPts val="600"/>
              </a:spcBef>
              <a:defRPr sz="1000">
                <a:solidFill>
                  <a:srgbClr val="6366F1"/>
                </a:solidFill>
              </a:defRPr>
            </a:pPr>
            <a:r>
              <a:t>🎚️ -14 LUFS Broadcast Standardı • Kesintisiz Gapless Loop • Arka Planda Çalma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578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🤫 5 Pışpış &amp; Gürültü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Gerçek insan 5S pışpışlaması (Shush), vakumlu fön makinesi, derin kahverengi gürültü, araba yolculuğu.</a:t>
            </a:r>
          </a:p>
          <a:p>
            <a:pPr>
              <a:spcBef>
                <a:spcPts val="600"/>
              </a:spcBef>
              <a:defRPr sz="1000">
                <a:solidFill>
                  <a:srgbClr val="6366F1"/>
                </a:solidFill>
              </a:defRPr>
            </a:pPr>
            <a:r>
              <a:t>🎚️ -14 LUFS Broadcast Standardı • Kesintisiz Gapless Loop • Arka Planda Çalma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31920"/>
            <a:ext cx="52578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1148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🌧️ 4 Doğa &amp; Huzur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Pencereye vuran gece yağmuru, sakin okyanus dalgaları, hafif yaz rüzgarı, huzurlu orman gecesi akışı.</a:t>
            </a:r>
          </a:p>
          <a:p>
            <a:pPr>
              <a:spcBef>
                <a:spcPts val="600"/>
              </a:spcBef>
              <a:defRPr sz="1000">
                <a:solidFill>
                  <a:srgbClr val="6366F1"/>
                </a:solidFill>
              </a:defRPr>
            </a:pPr>
            <a:r>
              <a:t>🎚️ -14 LUFS Broadcast Standardı • Kesintisiz Gapless Loop • Arka Planda Çalma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[ 07 • GELİŞİMSEL PSİKOLOJİ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Wonder Weeks: 10 Zihinsel Sıçrama &amp; Erken Atak Radarı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onder_weeks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10515600" cy="2377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389120"/>
            <a:ext cx="52578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⚡ Dinamik Gelişim Algoritması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Atak fırtınasının zirvesine kalan gün sayısı dinamik yüzde çubuğu ile takip edilir; kazanılacak yeni bilişsel beceriler önceden bildirilir.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4389120"/>
            <a:ext cx="52578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48056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🚨 Manuel Erken Atak Modu (Early Leap)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Bebek takvimden önce huysuzlaştığında tek tıkla atağı başlatır; SweetSpot otomatik 15 dk kısaltılarak yorgunluk önlenir.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[ 08 • BENCHMARK ANALİZİ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Küresel Pazar Karşılaştırması: Rakipler vs. Mışıl Baby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rket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438912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0" y="1645920"/>
            <a:ext cx="578815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🏆 Mışıl Baby Temel Rekabet Üstünlükleri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Tek Çatı Altında 5'li Ekosistem: Huckleberry sadece uyku, CryAnalyzer sadece ses analiz ederken; Mışıl hepsini birleştirir.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Canlı Streaming LLM: Rakiplerde bulunmayan, &lt;300ms SSE kelime akışıyla çalışan kişiselleştirilmiş AI Koçu.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18 Stüdyo Master Kaydı: Sentetik sinüs sesleri yerine gerçek stetoskop ve insan pışpışı.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Yerel Fiyatlandırma: Global rakiplerin $60+/yıl fiyatlarına karşılık Türkiye'ye özel ₺599.99/yıl ve ₺149.99/ay erişim.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[ 09 • TEKNİK MİMARİ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Yüksek Performanslı Dağıtık Mimari &amp; Gerçek Zamanlı Bulut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⚡ Backend &amp; API Katmanı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Python FastAPI mikroservis mimarisi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Uvicorn ASGI motoru &amp; Pydantic v2 validasyon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Librosa &amp; NumPy akustik sinyal işleme DSP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Google Gemini 3.5 Flash API entegrasyonu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747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🐘 Veritabanı &amp; Kalıcılık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Railway üzerinde %100 Canlı PostgreSQL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SQLAlchemy 2.0 ORM &amp; Alembic migrasyonları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Çoklu aile &amp; dadı veri izolasyonu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AES-256 şifrelenmiş hassas profil saklama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4747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3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🔄 Gerçek Zamanlı Senkronizasyon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Function-Bun WebSocket Sunucusu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Ebeveyn &amp; Dadı anlık veri senkronizasyonu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&lt;50ms gecikmeli SLEEP_STARTED eventleri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PWA Offline-First Service Worker önbelleği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[ 10 • GELİR &amp; HUKUKİ UYUM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İş Modeli: 3'lü Plan Seçici &amp; Apple Guideline 3.1.2 Uyumu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📅 Aylık Abonelik</a:t>
            </a:r>
          </a:p>
          <a:p>
            <a:pPr>
              <a:spcBef>
                <a:spcPts val="600"/>
              </a:spcBef>
              <a:defRPr sz="2000" b="1">
                <a:solidFill>
                  <a:srgbClr val="6366F1"/>
                </a:solidFill>
              </a:defRPr>
            </a:pPr>
            <a:r>
              <a:t>₺149.99 / Ay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Kısa vadeli esneklik arayan ebeveynler için sınırsız erişim.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74720" cy="3108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8288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👑 Yıllık Plan (Önerilen)</a:t>
            </a:r>
          </a:p>
          <a:p>
            <a:pPr>
              <a:spcBef>
                <a:spcPts val="600"/>
              </a:spcBef>
              <a:defRPr sz="2000" b="1">
                <a:solidFill>
                  <a:srgbClr val="F43F5E"/>
                </a:solidFill>
              </a:defRPr>
            </a:pPr>
            <a:r>
              <a:t>₺599.99 / Yıl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3 Gün Ücretsiz Deneme • Ayda sadece ₺49.99 (%66 İndirim). En popüler paket.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4747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3" y="18288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💎 Ömür Boyu Erişim</a:t>
            </a:r>
          </a:p>
          <a:p>
            <a:pPr>
              <a:spcBef>
                <a:spcPts val="600"/>
              </a:spcBef>
              <a:defRPr sz="2000" b="1">
                <a:solidFill>
                  <a:srgbClr val="6366F1"/>
                </a:solidFill>
              </a:defRPr>
            </a:pPr>
            <a:r>
              <a:t>₺1.499.99 Tek Sefer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Tüm gelecek bebekler ve güncellemeler dahil tek seferlik kalıcı lisans.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10725912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🩺 Apple Guideline 3.1.2 &amp; AAP Pediatrik Güvenlik Uyumu (TASK-001 &amp; TASK-002)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Onboarding sürecinde açık tıbbi feragatname ve onay zorunluluğu (Uygulama tıbbi teşhis cihazı değildir).</a:t>
            </a:r>
            <a:br/>
            <a:r>
              <a:t>• Dinamik deneme bitiş tarihi ve tek tıkla App Store abonelik iptal yönetim şeffaflığı.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sh_d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[ 11 • ROADMAP &amp; VISION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Gelecek Vizyonu: 2026 Yol Haritası &amp; Küresel Büyüme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Q3 2026 • Lansman &amp; Stabilizasyon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Türkiye pazarı lansmanı (iOS &amp; Android PWA)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18 stüdyo parçasının mobil çevrimdışı önbelleği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Mışıl Dadı SSE streaming tam canlıya alma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7472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Q4 2026 • Giyilebilir Entegrasyon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Apple Watch &amp; WearOS SweetSpot komplikasyonu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Bebeğin nabız ve sıcaklık sensör entegrasyonu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Akıllı beşik ve IoT gece lambası bağlantıları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47472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3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Q1 2027 • Küresel Açılım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İngilizce, Almanca ve İspanyolca lokalizasyon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Mene &amp; LATAM pazarına yerel ödeme altyapısı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Klinik pediatri dernekleri ile akademik validasyon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