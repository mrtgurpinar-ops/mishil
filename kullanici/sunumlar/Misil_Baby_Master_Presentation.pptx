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Mışıl Baby</a:t>
            </a:r>
          </a:p>
          <a:p>
            <a:pPr>
              <a:spcBef>
                <a:spcPts val="1200"/>
              </a:spcBef>
              <a:defRPr sz="2200" b="1">
                <a:solidFill>
                  <a:srgbClr val="FD79A8"/>
                </a:solidFill>
              </a:defRPr>
            </a:pPr>
            <a:r>
              <a:t>Yeni Nesil Yapay Zekâ Destekli Bebek Uyku &amp; Bütünleşik Ebeveynlik Ekosistemi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Sirkadiyen Ritim • Akustik Ağlama DSP Analizi • Gemini 3.5 Flash Canlı Dadı • 18 Gerçek Stüdyo Kaydı • Wonder Weeks</a:t>
            </a:r>
          </a:p>
          <a:p>
            <a:pPr>
              <a:spcBef>
                <a:spcPts val="3600"/>
              </a:spcBef>
              <a:defRPr sz="1200">
                <a:solidFill>
                  <a:srgbClr val="64748B"/>
                </a:solidFill>
              </a:defRPr>
            </a:pPr>
            <a:r>
              <a:t>Kurumsal Ürün &amp; Mimari Sunumu • Ağustos 2026 • Versiyon 7.32.0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</a:defRPr>
            </a:pPr>
            <a:r>
              <a:t>01 • PAZAR PROBLEMİ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Ebeveynlerin Yaşadığı Kriz: Uykusuzluk &amp; Parçalanmış Çözümler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91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🌙 Kronik Uykusuzluk &amp; Tükenmişlik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Yeni ebeveynlerin %82'si ilk 12 ayda ciddi uyku yoksunluğu ve aşırı yorgunluk eşiği (over-tiredness) nedeniyle tükenmişlik yaşıyor.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645920"/>
            <a:ext cx="2560320" cy="91440"/>
          </a:xfrm>
          <a:prstGeom prst="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🧩 Parçalanmış Uygulama Çöplüğü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Ebeveynler bir yanda uyku sayacı, diğer yanda beyaz gürültü, başka bir uygulamada atak takvimi ve forumlar arasında boğuluyor.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645920"/>
            <a:ext cx="2560320" cy="91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❓ Ağlama Sinyallerini Anlayamama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Bebeğin gaz sancısı mı, açlık mı yoksa uyku yorgunluğu mu çektiğini ayırt edememek acil panik ve stres kaynağı yaratıyor.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06256" y="1645920"/>
            <a:ext cx="2560320" cy="914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💸 Yüksek &amp; Erişilmez Maliyetler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Yabancı uygulamaların (Huckleberry vb.) $60+/yıl fahiş abonelik ücretleri ve Türkiye'ye uyarlanmamış soğuk içerikleri.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</a:defRPr>
            </a:pPr>
            <a:r>
              <a:t>02 • ÜRÜN ÇÖZÜMÜ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Mışıl Baby: 5 Çekirdek Güç ile Bütünleşik Bebek Ekosistemi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73936"/>
            <a:ext cx="548640" cy="5486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373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Akıllı SweetSpot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Bebeğin ayına ve uyanma saatine göre ideal uyku saatini öteleyen dinamik Sirkadiyen motor.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78608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706624"/>
            <a:ext cx="548640" cy="5486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Librosa DSP Ağlama Analizi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5 saniyelik mikrofon sesinden Açlık, Uyku, Gaz, Rahatsızlık ve İlgi teşhisi.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11296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639312"/>
            <a:ext cx="548640" cy="5486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02736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Mışıl Dadı (Canlı LLM)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Gemini 3.5 Flash ile &lt;300ms SSE kelime akışı, sıfır gevezelik, şefkatli klinik hap bilgi.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43984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572000"/>
            <a:ext cx="548640" cy="5486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35424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18 Gerçek Stüdyo Kaydı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Sentetik yapay frekanslar yerine gerçek stetoskop kalp atışı, su altı anne karnı ve ninniler.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76672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504688"/>
            <a:ext cx="548640" cy="5486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46811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5. Dinamik Wonder Weeks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10 Zihinsel sıçrama haftası, fırtına zirvesi ve erken atak başlatma modu (Early Leap).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</a:defRPr>
            </a:pPr>
            <a:r>
              <a:t>03 • KLİNİK UYKU MOTORU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Akıllı SweetSpot: Dinamik Wake Window &amp; Uykusuzluk Kalkanı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C5CE7"/>
                </a:solidFill>
              </a:defRPr>
            </a:pPr>
            <a:r>
              <a:t>🎯 Dinamik Algoritma Nasıl Çalışır?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Bebeğin doğum ayı ve biyolojik ritmine göre uyanıklık penceresi (örn. 4. Ay: 90-120 dk) hesaplanır.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Bebek uyandığı an SweetSpot sıfırlanır ve bir sonraki ideal yatırma zamanı dakika dakika geri sayılır.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Over-tiredness Shield: Aşırı yorgunluk eşiği aşıldığında sistem ebeveyni uyararak acil yatıştırma protokolünü devreye alır.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Sirkadiyen Güneş Senkronizasyonu: Gece ve gündüz uykuları otomatik olarak melatonin ritmine göre dengelenir.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894"/>
                </a:solidFill>
              </a:defRPr>
            </a:pPr>
            <a:r>
              <a:t>📊 Klinik Matematiksel Gelişim Skoru</a:t>
            </a:r>
          </a:p>
          <a:p>
            <a:pPr>
              <a:spcBef>
                <a:spcPts val="800"/>
              </a:spcBef>
              <a:defRPr sz="1300" b="1">
                <a:solidFill>
                  <a:srgbClr val="6C5CE7"/>
                </a:solidFill>
              </a:defRPr>
            </a:pPr>
            <a:r>
              <a:t>Skor = (Suyku x 0.40) + (Ssweetspot x 0.35) + (Satak x 0.25)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%84+ Ortalama Uyku Uyumu: Bebeklerin uykuya dalma süresinde 24 dakikadan 7 dakikaya gerileme.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Segmented Focus Hub: 'SweetSpot &amp; Uyut' ile 'Bugünkü Uykular' arasında tek tıkla geçiş sağlayan odak arayüzü.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Otomatik Uyanma Ötelemesi: Seans kaydı ile birlikte anında güncellenen canlı zaman çizelgesi.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</a:defRPr>
            </a:pPr>
            <a:r>
              <a:t>04 • AKUSTİK AI MOTORU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Librosa Akustik DSP: 5 Kategorili Akıllı Ağlama Teşhisi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05740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783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🍼 Açlık (Neh)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Melodik, ritmik ve emme refleksiyle yükselen frekans aralığı.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57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7791" y="1645920"/>
            <a:ext cx="2057400" cy="73152"/>
          </a:xfrm>
          <a:prstGeom prst="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1" y="1828800"/>
            <a:ext cx="1783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😴 Uyku / Yorgunluk (Owh)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Esneyerek kesilen, düşük tempolu ve boğuk ses dalgaları.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57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84064" y="1645920"/>
            <a:ext cx="20574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1828800"/>
            <a:ext cx="1783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💨 Gaz Sancısı (Eairh)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Karın kasılmasıyla aniden patlayan yüksek frekanslı tiz tonlar.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2057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0336" y="1645920"/>
            <a:ext cx="205740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1828800"/>
            <a:ext cx="1783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🩹 Rahatsızlık (Heh)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Sıcaklık, alt ıslaklığı veya terlemeden kaynaklanan hırıltılı ağlama.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645920"/>
            <a:ext cx="2057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36608" y="1645920"/>
            <a:ext cx="205740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1828800"/>
            <a:ext cx="1783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🫂 İlgi / Şefkat İsteği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Yalnız kalındığında başlayan, kucağa alınınca duran yumuşak sesler.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725912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894"/>
                </a:solidFill>
              </a:defRPr>
            </a:pPr>
            <a:r>
              <a:t>🔒 RAM ÜZERİNDE SIFIR-DEPOLAMA &amp; EBEVEYN GİZLİLİK STANDARDI (TASK-004)</a:t>
            </a:r>
          </a:p>
          <a:p>
            <a:pPr>
              <a:spcBef>
                <a:spcPts val="200"/>
              </a:spcBef>
              <a:defRPr sz="1100">
                <a:solidFill>
                  <a:srgbClr val="E2E8F0"/>
                </a:solidFill>
              </a:defRPr>
            </a:pPr>
            <a:r>
              <a:t>Mikrofon kaydı hiçbir zaman diske yazılmaz. 5 saniyelik ham ses sinyali sunucu RAM'inde anlık FFT analizine tabi tutulur, teşhis üretildikten hemen sonra kalıcı olarak imha edilir.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</a:defRPr>
            </a:pPr>
            <a:r>
              <a:t>05 • AI DADI &amp; REHBERLİK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Mışıl Dadı: Canlı Kelime Akışı (SSE) &amp; Şefkatli Klinik Zeka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C5CE7"/>
                </a:solidFill>
              </a:defRPr>
            </a:pPr>
            <a:r>
              <a:t>⚡ &lt;300ms Canlı Kelime Akışı (SSE Streaming)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Google Gemini 3.5 Flash :streamGenerateContent SSE motoru ile çalışır.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Ebeveyn soru sorduğu an kelimeler ekrana harf harf akıtılır.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Token kesilmesi veya sunucu zaman aşımı riski %100 sıfırlanmıştır.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C5CE7"/>
                </a:solidFill>
              </a:defRPr>
            </a:pPr>
            <a:r>
              <a:t>🎯 Doğrudan Odak &amp; Hap Bilgi Mimarisi (v2.6.1)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Ezber 'derin nefes al', 'omuzlarını gevşet' gibi gevezelikler temizlendi.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55-100 kelimelik net, uygulanabilir, klinik hap öneri formatı.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Bağlam İzolasyonu: Soru oda sıcaklığı ise zorla atak dersi verilmez.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C5CE7"/>
                </a:solidFill>
              </a:defRPr>
            </a:pPr>
            <a:r>
              <a:t>🌡️ Sıcaklık &amp; Empati Optimizasyonu (Temp: 0.40)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Halüsinasyon ve sapmalar tamamen engellendi.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Anne 👩 / Baba 👨 / Dadı 👵 rollerine özel kişiselleştirilmiş şefkatli hitap.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Pediatrik güvenlik sınırlarında doğru yönlendirme ve acil durum kalkanı.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</a:defRPr>
            </a:pPr>
            <a:r>
              <a:t>06 • SES MÜHENDİSLİĞİ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18 Parçalık Gerçek Stüdyo &amp; Alan Kaydı Ses Kütüphanesi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5780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🎶 5 Akustik Ninni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Brahms Lullaby, Twinkle Star, Uyusun da Büyüsün, Dandini Dandini, Ay Dede Ninnisi (Gerçek mekanik müzik kutusu ve piyano kayıtları).</a:t>
            </a:r>
          </a:p>
          <a:p>
            <a:pPr>
              <a:spcBef>
                <a:spcPts val="600"/>
              </a:spcBef>
              <a:defRPr sz="1000">
                <a:solidFill>
                  <a:srgbClr val="6C5CE7"/>
                </a:solidFill>
              </a:defRPr>
            </a:pPr>
            <a:r>
              <a:t>🎚️ -14 LUFS Broadcast Standardı • Kesintisiz Gapless Loop • Arka Planda Çalma Desteği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257800" cy="73152"/>
          </a:xfrm>
          <a:prstGeom prst="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🫀 4 Anne Karnı &amp; Kalp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Triküspit stetoskop Lub-Dub gerçek kalp atışı, hidrofon su altı plasenta akışı, amniyotik pembe yankı.</a:t>
            </a:r>
          </a:p>
          <a:p>
            <a:pPr>
              <a:spcBef>
                <a:spcPts val="600"/>
              </a:spcBef>
              <a:defRPr sz="1000">
                <a:solidFill>
                  <a:srgbClr val="6C5CE7"/>
                </a:solidFill>
              </a:defRPr>
            </a:pPr>
            <a:r>
              <a:t>🎚️ -14 LUFS Broadcast Standardı • Kesintisiz Gapless Loop • Arka Planda Çalma Desteği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2578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🤫 5 Pışpış &amp; Gürültü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Gerçek insan 5S pışpışlaması (Shush), vakumlu fön makinesi, uçak kabini, derin kahverengi gürültü, araba yolculuğu.</a:t>
            </a:r>
          </a:p>
          <a:p>
            <a:pPr>
              <a:spcBef>
                <a:spcPts val="600"/>
              </a:spcBef>
              <a:defRPr sz="1000">
                <a:solidFill>
                  <a:srgbClr val="6C5CE7"/>
                </a:solidFill>
              </a:defRPr>
            </a:pPr>
            <a:r>
              <a:t>🎚️ -14 LUFS Broadcast Standardı • Kesintisiz Gapless Loop • Arka Planda Çalma Desteği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931920"/>
            <a:ext cx="525780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114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🌧️ 4 Doğa &amp; Huzur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Pencereye vuran gece yağmuru, sakin okyanus dalgaları, hafif yaz rüzgarı, huzurlu orman gecesi akışı.</a:t>
            </a:r>
          </a:p>
          <a:p>
            <a:pPr>
              <a:spcBef>
                <a:spcPts val="600"/>
              </a:spcBef>
              <a:defRPr sz="1000">
                <a:solidFill>
                  <a:srgbClr val="6C5CE7"/>
                </a:solidFill>
              </a:defRPr>
            </a:pPr>
            <a:r>
              <a:t>🎚️ -14 LUFS Broadcast Standardı • Kesintisiz Gapless Loop • Arka Planda Çalma Desteği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</a:defRPr>
            </a:pPr>
            <a:r>
              <a:t>07 • GELİŞİMSEL PSİKOLOJİ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Wonder Weeks: 10 Zihinsel Sıçrama &amp; Erken Atak Radarı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C5CE7"/>
                </a:solidFill>
              </a:defRPr>
            </a:pPr>
            <a:r>
              <a:t>⚡ Dinamik Atak &amp; Sıçrama Motoru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75 yıllık pediatrik araştırmalara dayalı 10 Büyük Zihinsel Sıçrama haftası gün gün haritalanır.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Dinamik İlerleme Çubuğu (%): Atak fırtınasının zirvesine kaç gün kaldığını canlı gösterir.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4. Ay Regresyonu ve Huysuzluk Takvimi bebeğin doğum gününe tam duyarlı olarak senkronize edilir.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Ebeveyne yaklaşan sıçramada bebeğin kazanacağı yeni bilişsel beceriler (Desenler, Mesafeler, İlişkiler) önceden bildirilir.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D79A8"/>
                </a:solidFill>
              </a:defRPr>
            </a:pPr>
            <a:r>
              <a:t>🚨 Manuel Erken Atak Modu (Early Leap)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Bebek takvimden 1-2 hafta önce aşırı huysuzluk gösterdiğinde ebeveyn/dadı tek tıkla atağı manuel başlatabilir.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SweetSpot Otomatik Daraltma: Erken atak modunda uyanıklık penceresi otomatik olarak 15 dk kısaltılır.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Özel Yatıştırma Protokolü: Mışıl Dadı ve Ses Kütüphanesi atağa özel sakinleştirici moda geçer.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• 👨‍👩‍👧 Aile &amp; Dadı Senkronizasyonu (MSL782): Atağın başlatıldığı bilgisi tüm bağlı aile üyelerine anında iletilir.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</a:defRPr>
            </a:pPr>
            <a:r>
              <a:t>08 • BENCHMARK ANALİZİ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Küresel Pazar Karşılaştırması: Rakipler vs. Mışıl Baby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1645920"/>
                <a:gridCol w="1645920"/>
                <a:gridCol w="1645920"/>
                <a:gridCol w="2039112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Özellik / Kriter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Huckleberry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Napper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Wonder Weeks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CryAnalyzer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Mışıl Baby 🚀</a:t>
                      </a:r>
                    </a:p>
                  </a:txBody>
                  <a:tcPr>
                    <a:solidFill>
                      <a:srgbClr val="6C5CE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Dinamik SweetSpot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✅ Var (Statik)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✅ Var (Esnek)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Yok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Yok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C5CE7"/>
                          </a:solidFill>
                        </a:defRPr>
                      </a:pPr>
                      <a:r>
                        <a:t>✅ Var (Canlı Ritim)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Akustik Ağlama DSP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Yok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Yok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Yok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✅ Var (Dikey)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C5CE7"/>
                          </a:solidFill>
                        </a:defRPr>
                      </a:pPr>
                      <a:r>
                        <a:t>✅ Var (5 Kategori)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Gerçek Stüdyo Sesleri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⚠️ Sınırlı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⚠️ Temel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Yok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Yok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C5CE7"/>
                          </a:solidFill>
                        </a:defRPr>
                      </a:pPr>
                      <a:r>
                        <a:t>✅ 18 Stüdyo Master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Canlı Streaming LLM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Yok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Yok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Yok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Yok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C5CE7"/>
                          </a:solidFill>
                        </a:defRPr>
                      </a:pPr>
                      <a:r>
                        <a:t>✅ Gemini 3.5 Flash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</a:defRPr>
            </a:pPr>
            <a:r>
              <a:t>09 • TEKNİK MİMARİ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Yüksek Performanslı Dağıtık Mimari &amp; Gerçek Zamanlı Bulut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C5CE7"/>
                </a:solidFill>
              </a:defRPr>
            </a:pPr>
            <a:r>
              <a:t>⚡ Backend &amp; API Katmanı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Python FastAPI mikroservis mimarisi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Uvicorn ASGI motoru &amp; Pydantic v2 validasyon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Librosa &amp; NumPy akustik sinyal işleme DSP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Google Gemini 3.5 Flash API entegrasyonu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C5CE7"/>
                </a:solidFill>
              </a:defRPr>
            </a:pPr>
            <a:r>
              <a:t>🐘 Veritabanı &amp; Kalıcılık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Railway üzerinde %100 Canlı PostgreSQL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SQLAlchemy 2.0 ORM &amp; Alembic migrasyonları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Çoklu aile &amp; dadı veri izolasyonu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AES-256 şifrelenmiş hassas profil saklama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C5CE7"/>
                </a:solidFill>
              </a:defRPr>
            </a:pPr>
            <a:r>
              <a:t>🔄 Gerçek Zamanlı Senkronizasyon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Function-Bun WebSocket Sunucusu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Ebeveyn &amp; Dadı anlık veri senkronizasyonu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&lt;50ms gecikmeli SLEEP_STARTED eventleri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PWA Offline-First Service Worker önbelleği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5CE7"/>
                </a:solidFill>
              </a:defRPr>
            </a:pPr>
            <a:r>
              <a:t>10 • GELİR &amp; HUKUKİ UYUM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İş Modeli: 3'lü Plan Seçici &amp; Apple Guideline 3.1.2 Uyumu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📅 Aylık Abonelik</a:t>
            </a:r>
          </a:p>
          <a:p>
            <a:pPr>
              <a:spcBef>
                <a:spcPts val="600"/>
              </a:spcBef>
              <a:defRPr sz="2000" b="1">
                <a:solidFill>
                  <a:srgbClr val="6C5CE7"/>
                </a:solidFill>
              </a:defRPr>
            </a:pPr>
            <a:r>
              <a:t>₺149.99 / Ay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Kısa vadeli esneklik arayan ebeveynler için sınırsız erişim.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31089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C5CE7"/>
                </a:solidFill>
              </a:defRPr>
            </a:pPr>
            <a:r>
              <a:t>👑 Yıllık Plan (Önerilen)</a:t>
            </a:r>
          </a:p>
          <a:p>
            <a:pPr>
              <a:spcBef>
                <a:spcPts val="600"/>
              </a:spcBef>
              <a:defRPr sz="2000" b="1">
                <a:solidFill>
                  <a:srgbClr val="FD79A8"/>
                </a:solidFill>
              </a:defRPr>
            </a:pPr>
            <a:r>
              <a:t>₺599.99 / Yıl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3 Gün Ücretsiz Deneme • Ayda sadece ₺49.99 (%66 İndirim). En popüler paket.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💎 Ömür Boyu Erişim</a:t>
            </a:r>
          </a:p>
          <a:p>
            <a:pPr>
              <a:spcBef>
                <a:spcPts val="600"/>
              </a:spcBef>
              <a:defRPr sz="2000" b="1">
                <a:solidFill>
                  <a:srgbClr val="6C5CE7"/>
                </a:solidFill>
              </a:defRPr>
            </a:pPr>
            <a:r>
              <a:t>₺1.499.99 Tek Sefer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Tüm gelecek bebekler ve güncellemeler dahil tek seferlik kalıcı lisans.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725912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C5CE7"/>
                </a:solidFill>
              </a:defRPr>
            </a:pPr>
            <a:r>
              <a:t>🩺 Apple Guideline 3.1.2 &amp; AAP Pediatrik Güvenlik Uyumu (TASK-001 &amp; TASK-002)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Onboarding sürecinde açık tıbbi feragatname ve onay zorunluluğu (Uygulama tıbbi teşhis cihazı değildir).</a:t>
            </a:r>
            <a:br/>
            <a:r>
              <a:t>• Dinamik deneme bitiş tarihi ve tek tıkla App Store abonelik iptal yönetim şeffaflığı.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79A8"/>
                </a:solidFill>
              </a:defRPr>
            </a:pPr>
            <a:r>
              <a:t>11 • ROADMAP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Gelecek Vizyonu: 2026 Yol Haritası &amp; Küresel Büyüme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D79A8"/>
                </a:solidFill>
              </a:defRPr>
            </a:pPr>
            <a:r>
              <a:t>Q3 2026 • Lansman &amp; Stabilizasyon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Türkiye pazarı lansmanı (iOS &amp; Android PWA)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18 stüdyo parçasının mobil çevrimdışı önbelleği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Mışıl Dadı SSE streaming tam canlıya alma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D79A8"/>
                </a:solidFill>
              </a:defRPr>
            </a:pPr>
            <a:r>
              <a:t>Q4 2026 • Giyilebilir Entegrasyon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Apple Watch &amp; WearOS SweetSpot komplikasyonu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Bebeğin nabız ve sıcaklık sensör entegrasyonu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Akıllı beşik ve IoT gece lambası bağlantıları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D79A8"/>
                </a:solidFill>
              </a:defRPr>
            </a:pPr>
            <a:r>
              <a:t>Q1 2027 • Küresel Açılım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İngilizce, Almanca ve İspanyolca lokalizasyon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Mene &amp; LATAM pazarına yerel ödeme altyapısı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Klinik pediatri dernekleri ile akademik validasyon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